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96" r:id="rId2"/>
    <p:sldId id="297" r:id="rId3"/>
    <p:sldId id="298" r:id="rId4"/>
    <p:sldId id="301" r:id="rId5"/>
    <p:sldId id="308" r:id="rId6"/>
    <p:sldId id="315" r:id="rId7"/>
    <p:sldId id="321" r:id="rId8"/>
    <p:sldId id="325" r:id="rId9"/>
    <p:sldId id="331" r:id="rId10"/>
    <p:sldId id="338" r:id="rId11"/>
    <p:sldId id="345" r:id="rId12"/>
    <p:sldId id="351" r:id="rId13"/>
    <p:sldId id="35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EFCC65-627A-5B4D-BAD8-6B6088AFAC5B}" v="1" dt="2026-03-15T20:53:31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53"/>
    <p:restoredTop sz="91046"/>
  </p:normalViewPr>
  <p:slideViewPr>
    <p:cSldViewPr snapToGrid="0">
      <p:cViewPr varScale="1">
        <p:scale>
          <a:sx n="205" d="100"/>
          <a:sy n="205" d="100"/>
        </p:scale>
        <p:origin x="40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AF1EA-ECD4-FA4B-946B-A572EFE7691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DA4C4-A1B0-C14C-8122-C058EC907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78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61719-6F52-454E-9A2E-8B5B37433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58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 sz="1200" b="1" dirty="0"/>
              <a:t>AI in Education is High-Risk by Default</a:t>
            </a:r>
            <a:endParaRPr lang="en-US" sz="1200" dirty="0"/>
          </a:p>
          <a:p>
            <a:pPr>
              <a:buFont typeface="Arial"/>
              <a:buChar char="•"/>
            </a:pPr>
            <a:r>
              <a:rPr lang="en-US" sz="1200" dirty="0"/>
              <a:t>Assessment shapes student progression and opportunity</a:t>
            </a:r>
          </a:p>
          <a:p>
            <a:pPr>
              <a:buFont typeface="Arial"/>
              <a:buChar char="•"/>
            </a:pPr>
            <a:r>
              <a:rPr lang="en-US" sz="1200" dirty="0"/>
              <a:t>Biased or incorrect AI outputs can materially harm learners</a:t>
            </a:r>
          </a:p>
          <a:p>
            <a:pPr>
              <a:buFont typeface="Arial"/>
              <a:buChar char="•"/>
            </a:pPr>
            <a:r>
              <a:rPr lang="en-US" sz="1200" dirty="0"/>
              <a:t>High-risk designation applies even to formative (not just summative) systems</a:t>
            </a:r>
          </a:p>
          <a:p>
            <a:pPr>
              <a:buFont typeface="Arial"/>
              <a:buChar char="•"/>
            </a:pPr>
            <a:r>
              <a:rPr lang="en-US" sz="1200" dirty="0"/>
              <a:t>Any system that analyses responses, structures interpretation, and generates feedback can influence outcomes</a:t>
            </a:r>
          </a:p>
          <a:p>
            <a:pPr>
              <a:buFont typeface="Arial"/>
              <a:buChar char="•"/>
            </a:pPr>
            <a:r>
              <a:rPr lang="en-US" sz="1200" dirty="0"/>
              <a:t>Diotima adopts a conservative, regulator-aligned position: </a:t>
            </a:r>
            <a:r>
              <a:rPr lang="en-US" sz="1200" b="1" dirty="0"/>
              <a:t>treated as high-risk by design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DA4C4-A1B0-C14C-8122-C058EC907B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29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Diotima’s Core Design Proposition</a:t>
            </a:r>
          </a:p>
          <a:p>
            <a:endParaRPr lang="en-US" sz="1200" b="1" dirty="0"/>
          </a:p>
          <a:p>
            <a:pPr>
              <a:buFont typeface="Arial"/>
              <a:buChar char="•"/>
            </a:pPr>
            <a:r>
              <a:rPr lang="en-US" sz="1200" dirty="0"/>
              <a:t>Diotima is </a:t>
            </a:r>
            <a:r>
              <a:rPr lang="en-US" sz="1200" b="1" dirty="0"/>
              <a:t>not</a:t>
            </a:r>
            <a:r>
              <a:rPr lang="en-US" sz="1200" dirty="0"/>
              <a:t> an AI grader—it does not autonomously assign marks or determine outcomes</a:t>
            </a:r>
          </a:p>
          <a:p>
            <a:pPr>
              <a:buFont typeface="Arial"/>
              <a:buChar char="•"/>
            </a:pPr>
            <a:r>
              <a:rPr lang="en-US" sz="1200" dirty="0"/>
              <a:t>A teacher-</a:t>
            </a:r>
            <a:r>
              <a:rPr lang="en-US" sz="1200" dirty="0" err="1"/>
              <a:t>centred</a:t>
            </a:r>
            <a:r>
              <a:rPr lang="en-US" sz="1200" dirty="0"/>
              <a:t> decision-support system for formative assessment</a:t>
            </a:r>
          </a:p>
          <a:p>
            <a:pPr>
              <a:buFont typeface="Arial"/>
              <a:buChar char="•"/>
            </a:pPr>
            <a:r>
              <a:rPr lang="en-US" sz="1200" dirty="0"/>
              <a:t>Supports teachers to: generate curriculum-aligned questions, apply transparent rubrics, provide scalable feedback, and support student reflection</a:t>
            </a:r>
          </a:p>
          <a:p>
            <a:pPr>
              <a:buFont typeface="Arial"/>
              <a:buChar char="•"/>
            </a:pPr>
            <a:r>
              <a:rPr lang="en-US" sz="1200" b="1" dirty="0"/>
              <a:t>Core constraint: no AI output is final without human confirmation</a:t>
            </a:r>
          </a:p>
          <a:p>
            <a:pPr>
              <a:buFont typeface="Arial"/>
              <a:buChar char="•"/>
            </a:pPr>
            <a:r>
              <a:rPr lang="en-US" sz="1200" dirty="0"/>
              <a:t>The AI proposes; the teacher decides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DA4C4-A1B0-C14C-8122-C058EC907B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74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69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762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04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14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78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8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79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1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3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414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36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15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5E9CA-27A3-29E0-104A-371C10F1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0EFAC79-B402-031F-1DFE-42EAAB53B210}"/>
              </a:ext>
            </a:extLst>
          </p:cNvPr>
          <p:cNvSpPr txBox="1"/>
          <p:nvPr/>
        </p:nvSpPr>
        <p:spPr>
          <a:xfrm>
            <a:off x="1651000" y="1498600"/>
            <a:ext cx="317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0D1C3B"/>
                </a:solidFill>
              </a:rPr>
              <a:t>Responsible </a:t>
            </a:r>
            <a:r>
              <a:rPr lang="en-US" sz="1400" dirty="0">
                <a:solidFill>
                  <a:srgbClr val="1973EB"/>
                </a:solidFill>
              </a:rPr>
              <a:t>AI</a:t>
            </a:r>
            <a:r>
              <a:rPr lang="en-US" sz="1400" dirty="0">
                <a:solidFill>
                  <a:srgbClr val="0D1C3B"/>
                </a:solidFill>
              </a:rPr>
              <a:t>, Real Impact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F38711-DF85-5382-4BFC-38B03A0510A6}"/>
              </a:ext>
            </a:extLst>
          </p:cNvPr>
          <p:cNvSpPr txBox="1"/>
          <p:nvPr/>
        </p:nvSpPr>
        <p:spPr>
          <a:xfrm>
            <a:off x="698500" y="4889500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1973EB"/>
                </a:solidFill>
              </a:rPr>
              <a:t>www.novalconsultancy.com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DF4B8-101A-944A-AE05-E1182C2F50C1}"/>
              </a:ext>
            </a:extLst>
          </p:cNvPr>
          <p:cNvSpPr txBox="1"/>
          <p:nvPr/>
        </p:nvSpPr>
        <p:spPr>
          <a:xfrm>
            <a:off x="698500" y="2786220"/>
            <a:ext cx="5334000" cy="70788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D1C3B"/>
                </a:solidFill>
              </a:rPr>
              <a:t>Diotima: Compliance-Grade AI </a:t>
            </a:r>
            <a:r>
              <a:rPr lang="en-US" sz="1600" b="1" dirty="0">
                <a:solidFill>
                  <a:srgbClr val="0D1C3B"/>
                </a:solidFill>
              </a:rPr>
              <a:t>Infrastructure for Formative Assessment in Education</a:t>
            </a:r>
            <a:endParaRPr lang="en-US" sz="2400" b="1" dirty="0">
              <a:solidFill>
                <a:srgbClr val="0D1C3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F4CF3-1132-4840-BB5D-95BE53219C70}"/>
              </a:ext>
            </a:extLst>
          </p:cNvPr>
          <p:cNvSpPr txBox="1"/>
          <p:nvPr/>
        </p:nvSpPr>
        <p:spPr>
          <a:xfrm>
            <a:off x="698500" y="4318000"/>
            <a:ext cx="50800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666666"/>
                </a:solidFill>
              </a:rPr>
              <a:t>Eoin Lane PhD</a:t>
            </a:r>
          </a:p>
          <a:p>
            <a:pPr algn="l"/>
            <a:r>
              <a:rPr lang="en-US" sz="1400" dirty="0">
                <a:solidFill>
                  <a:srgbClr val="666666"/>
                </a:solidFill>
              </a:rPr>
              <a:t>Noval Consulting  |  Working Paper, Draft v1, 2025</a:t>
            </a:r>
          </a:p>
        </p:txBody>
      </p:sp>
      <p:pic>
        <p:nvPicPr>
          <p:cNvPr id="7" name="Picture 6" descr="A black circle with lines in it&#10;&#10;AI-generated content may be incorrect.">
            <a:extLst>
              <a:ext uri="{FF2B5EF4-FFF2-40B4-BE49-F238E27FC236}">
                <a16:creationId xmlns:a16="http://schemas.microsoft.com/office/drawing/2014/main" id="{07B28FEF-3E69-AB2D-CD19-138AE0255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270000"/>
            <a:ext cx="825500" cy="82550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D8E36C0-8AC6-1F46-8F18-B6ACEEEDD1FE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31750" cap="flat" cmpd="sng" algn="ctr">
            <a:solidFill>
              <a:srgbClr val="1973EB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tack of books with ladders and a graduation cap&#10;&#10;AI-generated content may be incorrect.">
            <a:extLst>
              <a:ext uri="{FF2B5EF4-FFF2-40B4-BE49-F238E27FC236}">
                <a16:creationId xmlns:a16="http://schemas.microsoft.com/office/drawing/2014/main" id="{34F2B67C-CD92-4310-5D31-11C490C17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273" y="457200"/>
            <a:ext cx="3825551" cy="573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23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D546-5FE2-4BF0-FC75-5C6CA9474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Compliance Gap in Education AI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418D99-9D6F-CE4F-BEF8-344FBE9B5DFF}"/>
              </a:ext>
            </a:extLst>
          </p:cNvPr>
          <p:cNvSpPr/>
          <p:nvPr/>
        </p:nvSpPr>
        <p:spPr>
          <a:xfrm>
            <a:off x="698500" y="2667000"/>
            <a:ext cx="3365500" cy="3302000"/>
          </a:xfrm>
          <a:prstGeom prst="round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B89CD5-E4D6-0548-A389-6C9C3CA80893}"/>
              </a:ext>
            </a:extLst>
          </p:cNvPr>
          <p:cNvSpPr/>
          <p:nvPr/>
        </p:nvSpPr>
        <p:spPr>
          <a:xfrm>
            <a:off x="698500" y="2667000"/>
            <a:ext cx="3365500" cy="76200"/>
          </a:xfrm>
          <a:prstGeom prst="rect">
            <a:avLst/>
          </a:prstGeom>
          <a:solidFill>
            <a:srgbClr val="197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68211-64B8-544B-AF31-B3232E09BD03}"/>
              </a:ext>
            </a:extLst>
          </p:cNvPr>
          <p:cNvSpPr txBox="1"/>
          <p:nvPr/>
        </p:nvSpPr>
        <p:spPr>
          <a:xfrm>
            <a:off x="927100" y="2921000"/>
            <a:ext cx="63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1973EB"/>
                </a:solidFill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8FF42-1AC0-6F4C-A499-22AEA89836E0}"/>
              </a:ext>
            </a:extLst>
          </p:cNvPr>
          <p:cNvSpPr txBox="1"/>
          <p:nvPr/>
        </p:nvSpPr>
        <p:spPr>
          <a:xfrm>
            <a:off x="927100" y="3429000"/>
            <a:ext cx="2908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THE REGULATION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773E8E-2749-144A-868C-671296D4FD79}"/>
              </a:ext>
            </a:extLst>
          </p:cNvPr>
          <p:cNvSpPr txBox="1"/>
          <p:nvPr/>
        </p:nvSpPr>
        <p:spPr>
          <a:xfrm>
            <a:off x="927100" y="3937000"/>
            <a:ext cx="29083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The EU AI Act classifies student assessment AI as high-risk under Annex III, Section 3(a)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A50D1FD-30EF-D749-9AB9-F9360ACD7F19}"/>
              </a:ext>
            </a:extLst>
          </p:cNvPr>
          <p:cNvSpPr/>
          <p:nvPr/>
        </p:nvSpPr>
        <p:spPr>
          <a:xfrm>
            <a:off x="4381500" y="2667000"/>
            <a:ext cx="3365500" cy="3302000"/>
          </a:xfrm>
          <a:prstGeom prst="round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8145D0-B261-644C-BE72-B4FB3B363094}"/>
              </a:ext>
            </a:extLst>
          </p:cNvPr>
          <p:cNvSpPr/>
          <p:nvPr/>
        </p:nvSpPr>
        <p:spPr>
          <a:xfrm>
            <a:off x="4381500" y="2667000"/>
            <a:ext cx="3365500" cy="76200"/>
          </a:xfrm>
          <a:prstGeom prst="rect">
            <a:avLst/>
          </a:prstGeom>
          <a:solidFill>
            <a:srgbClr val="FE73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A02F81-B18A-4049-9930-82CD8ACA65F4}"/>
              </a:ext>
            </a:extLst>
          </p:cNvPr>
          <p:cNvSpPr txBox="1"/>
          <p:nvPr/>
        </p:nvSpPr>
        <p:spPr>
          <a:xfrm>
            <a:off x="4610100" y="2921000"/>
            <a:ext cx="63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E733C"/>
                </a:solidFill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AE6F3D-2545-3E43-B001-B8C80AE93F69}"/>
              </a:ext>
            </a:extLst>
          </p:cNvPr>
          <p:cNvSpPr txBox="1"/>
          <p:nvPr/>
        </p:nvSpPr>
        <p:spPr>
          <a:xfrm>
            <a:off x="4610100" y="3429000"/>
            <a:ext cx="2908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THE GAP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07873E-B3AA-4A44-ADBA-7892250DB05E}"/>
              </a:ext>
            </a:extLst>
          </p:cNvPr>
          <p:cNvSpPr txBox="1"/>
          <p:nvPr/>
        </p:nvSpPr>
        <p:spPr>
          <a:xfrm>
            <a:off x="4610100" y="3937000"/>
            <a:ext cx="29083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Most educational AI products treat compliance as a downstream concern, not an architectural constraint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3743C80-F038-8C40-B2F7-C8438B7A52B0}"/>
              </a:ext>
            </a:extLst>
          </p:cNvPr>
          <p:cNvSpPr/>
          <p:nvPr/>
        </p:nvSpPr>
        <p:spPr>
          <a:xfrm>
            <a:off x="8064500" y="2667000"/>
            <a:ext cx="3365500" cy="3302000"/>
          </a:xfrm>
          <a:prstGeom prst="round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ADC41C-9379-2F41-9705-1A7EFAF48B02}"/>
              </a:ext>
            </a:extLst>
          </p:cNvPr>
          <p:cNvSpPr/>
          <p:nvPr/>
        </p:nvSpPr>
        <p:spPr>
          <a:xfrm>
            <a:off x="8064500" y="2667000"/>
            <a:ext cx="3365500" cy="76200"/>
          </a:xfrm>
          <a:prstGeom prst="rect">
            <a:avLst/>
          </a:prstGeom>
          <a:solidFill>
            <a:srgbClr val="25C8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54DDA4-16D3-B944-B12D-9F466ACEF299}"/>
              </a:ext>
            </a:extLst>
          </p:cNvPr>
          <p:cNvSpPr txBox="1"/>
          <p:nvPr/>
        </p:nvSpPr>
        <p:spPr>
          <a:xfrm>
            <a:off x="8293100" y="2921000"/>
            <a:ext cx="63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25C8A2"/>
                </a:solidFill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548A88-148B-BA43-82F8-3DC137226D67}"/>
              </a:ext>
            </a:extLst>
          </p:cNvPr>
          <p:cNvSpPr txBox="1"/>
          <p:nvPr/>
        </p:nvSpPr>
        <p:spPr>
          <a:xfrm>
            <a:off x="8293100" y="3429000"/>
            <a:ext cx="2908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THE APPROACH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9559F3-BBC8-9749-9956-6ED0A3D9D54B}"/>
              </a:ext>
            </a:extLst>
          </p:cNvPr>
          <p:cNvSpPr txBox="1"/>
          <p:nvPr/>
        </p:nvSpPr>
        <p:spPr>
          <a:xfrm>
            <a:off x="8293100" y="3937000"/>
            <a:ext cx="29083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Diotima is built for regulatory alignment from first principles — obligations as specification, not constraint</a:t>
            </a:r>
          </a:p>
        </p:txBody>
      </p:sp>
    </p:spTree>
    <p:extLst>
      <p:ext uri="{BB962C8B-B14F-4D97-AF65-F5344CB8AC3E}">
        <p14:creationId xmlns:p14="http://schemas.microsoft.com/office/powerpoint/2010/main" val="2156062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5043-6E52-4C17-8564-A2ECF1939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The Case for High-Risk Classification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B0955F-5BC1-0E4C-9D11-6357E30E77EB}"/>
              </a:ext>
            </a:extLst>
          </p:cNvPr>
          <p:cNvSpPr/>
          <p:nvPr/>
        </p:nvSpPr>
        <p:spPr>
          <a:xfrm>
            <a:off x="698500" y="2667000"/>
            <a:ext cx="10795000" cy="825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811642-FDC9-F64D-A4F5-F63905A93BBE}"/>
              </a:ext>
            </a:extLst>
          </p:cNvPr>
          <p:cNvSpPr/>
          <p:nvPr/>
        </p:nvSpPr>
        <p:spPr>
          <a:xfrm>
            <a:off x="698500" y="2667000"/>
            <a:ext cx="76200" cy="825500"/>
          </a:xfrm>
          <a:prstGeom prst="rect">
            <a:avLst/>
          </a:prstGeom>
          <a:solidFill>
            <a:srgbClr val="197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D8DA4F-F684-3641-9914-AEC918626A4B}"/>
              </a:ext>
            </a:extLst>
          </p:cNvPr>
          <p:cNvSpPr txBox="1"/>
          <p:nvPr/>
        </p:nvSpPr>
        <p:spPr>
          <a:xfrm>
            <a:off x="1016000" y="27686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973EB"/>
                </a:solidFill>
              </a:rPr>
              <a:t>ASSESSMENT HAS CONSEQUENCES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8DD222-60D4-FC49-B95F-9813173B36C9}"/>
              </a:ext>
            </a:extLst>
          </p:cNvPr>
          <p:cNvSpPr txBox="1"/>
          <p:nvPr/>
        </p:nvSpPr>
        <p:spPr>
          <a:xfrm>
            <a:off x="1016000" y="30734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It shapes student progression, opportunity, and how performance is perceived and recorded.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277F6D-FACB-C44C-9A8F-ACEBB799A3B7}"/>
              </a:ext>
            </a:extLst>
          </p:cNvPr>
          <p:cNvSpPr/>
          <p:nvPr/>
        </p:nvSpPr>
        <p:spPr>
          <a:xfrm>
            <a:off x="698500" y="3644900"/>
            <a:ext cx="10795000" cy="825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285FF2-02B8-8A4F-A45B-B7EBD731CF92}"/>
              </a:ext>
            </a:extLst>
          </p:cNvPr>
          <p:cNvSpPr/>
          <p:nvPr/>
        </p:nvSpPr>
        <p:spPr>
          <a:xfrm>
            <a:off x="698500" y="3644900"/>
            <a:ext cx="76200" cy="825500"/>
          </a:xfrm>
          <a:prstGeom prst="rect">
            <a:avLst/>
          </a:prstGeom>
          <a:solidFill>
            <a:srgbClr val="FE73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FD1EBA-3DBF-FD4E-8145-05E5F6221631}"/>
              </a:ext>
            </a:extLst>
          </p:cNvPr>
          <p:cNvSpPr txBox="1"/>
          <p:nvPr/>
        </p:nvSpPr>
        <p:spPr>
          <a:xfrm>
            <a:off x="1016000" y="37465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E733C"/>
                </a:solidFill>
              </a:rPr>
              <a:t>AI AMPLIFIES THE STAKES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BF4CD-2433-5A47-A7A2-156B83261F74}"/>
              </a:ext>
            </a:extLst>
          </p:cNvPr>
          <p:cNvSpPr txBox="1"/>
          <p:nvPr/>
        </p:nvSpPr>
        <p:spPr>
          <a:xfrm>
            <a:off x="1016000" y="40513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Any system that analyses responses, structures interpretation, and generates feedback can influence outcomes — biased outputs cause material harm.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15A5FD-484B-7F4F-9C6A-71768F3AFC3A}"/>
              </a:ext>
            </a:extLst>
          </p:cNvPr>
          <p:cNvSpPr/>
          <p:nvPr/>
        </p:nvSpPr>
        <p:spPr>
          <a:xfrm>
            <a:off x="698500" y="4622800"/>
            <a:ext cx="10795000" cy="825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1148FC-A58A-3B45-94E3-5AEF8499B608}"/>
              </a:ext>
            </a:extLst>
          </p:cNvPr>
          <p:cNvSpPr/>
          <p:nvPr/>
        </p:nvSpPr>
        <p:spPr>
          <a:xfrm>
            <a:off x="698500" y="4622800"/>
            <a:ext cx="76200" cy="825500"/>
          </a:xfrm>
          <a:prstGeom prst="rect">
            <a:avLst/>
          </a:prstGeom>
          <a:solidFill>
            <a:srgbClr val="FE5A5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7746C-36D1-2248-9E70-5E6B37275BB5}"/>
              </a:ext>
            </a:extLst>
          </p:cNvPr>
          <p:cNvSpPr txBox="1"/>
          <p:nvPr/>
        </p:nvSpPr>
        <p:spPr>
          <a:xfrm>
            <a:off x="1016000" y="47244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E5A5A"/>
                </a:solidFill>
              </a:rPr>
              <a:t>HIGH-RISK APPLIES BROADLY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BA0076-AE3E-BC4A-B746-16D86AA0FEE5}"/>
              </a:ext>
            </a:extLst>
          </p:cNvPr>
          <p:cNvSpPr txBox="1"/>
          <p:nvPr/>
        </p:nvSpPr>
        <p:spPr>
          <a:xfrm>
            <a:off x="1016000" y="50292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The Annex III designation covers even formative systems — not just those that assign official grades.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CE6E67-4794-0E41-8D04-41498E2494B7}"/>
              </a:ext>
            </a:extLst>
          </p:cNvPr>
          <p:cNvSpPr/>
          <p:nvPr/>
        </p:nvSpPr>
        <p:spPr>
          <a:xfrm>
            <a:off x="698500" y="5651500"/>
            <a:ext cx="10795000" cy="698500"/>
          </a:xfrm>
          <a:prstGeom prst="roundRect">
            <a:avLst/>
          </a:prstGeom>
          <a:solidFill>
            <a:srgbClr val="0D1C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4A546C-C9F4-0048-B966-7AA52EA5712C}"/>
              </a:ext>
            </a:extLst>
          </p:cNvPr>
          <p:cNvSpPr txBox="1"/>
          <p:nvPr/>
        </p:nvSpPr>
        <p:spPr>
          <a:xfrm>
            <a:off x="952500" y="5740400"/>
            <a:ext cx="10287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>
                <a:solidFill>
                  <a:srgbClr val="25C8A2"/>
                </a:solidFill>
              </a:rPr>
              <a:t>Diotima is treated as high-risk by design — every decision oriented by that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73871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CFA1-4BEB-6EEC-425B-64C7B0871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Diotima's Core Design Proposition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54359-6802-ED42-9BBE-C05298A68018}"/>
              </a:ext>
            </a:extLst>
          </p:cNvPr>
          <p:cNvSpPr txBox="1"/>
          <p:nvPr/>
        </p:nvSpPr>
        <p:spPr>
          <a:xfrm>
            <a:off x="698500" y="18415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</a:rPr>
              <a:t>A teacher-centred decision-support system for formative assessment</a:t>
            </a:r>
          </a:p>
        </p:txBody>
      </p:sp>
      <p:pic>
        <p:nvPicPr>
          <p:cNvPr id="6" name="Graphic 6" descr="AI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2400" y="2603500"/>
            <a:ext cx="711200" cy="711200"/>
          </a:xfrm>
          <a:prstGeom prst="rect">
            <a:avLst/>
          </a:prstGeom>
        </p:spPr>
      </p:pic>
      <p:pic>
        <p:nvPicPr>
          <p:cNvPr id="7" name="Graphic 7" descr="Teacher oversigh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2400" y="2603500"/>
            <a:ext cx="711200" cy="711200"/>
          </a:xfrm>
          <a:prstGeom prst="rect">
            <a:avLst/>
          </a:prstGeom>
        </p:spPr>
      </p:pic>
      <p:pic>
        <p:nvPicPr>
          <p:cNvPr id="8" name="Graphic 8" descr="Student outcom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2400" y="2603500"/>
            <a:ext cx="711200" cy="711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8B8FE7-A655-844F-8F2D-97EE5E3F7738}"/>
              </a:ext>
            </a:extLst>
          </p:cNvPr>
          <p:cNvSpPr txBox="1"/>
          <p:nvPr/>
        </p:nvSpPr>
        <p:spPr>
          <a:xfrm>
            <a:off x="381000" y="3429000"/>
            <a:ext cx="279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973EB"/>
                </a:solidFill>
              </a:rPr>
              <a:t>AI PROPOSES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2FDE8-D8C4-7942-9EFE-06D9A46F3936}"/>
              </a:ext>
            </a:extLst>
          </p:cNvPr>
          <p:cNvSpPr txBox="1"/>
          <p:nvPr/>
        </p:nvSpPr>
        <p:spPr>
          <a:xfrm>
            <a:off x="381000" y="3810000"/>
            <a:ext cx="279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Generates curriculum-aligned questions, rubrics, and feedback — all grounded in approved source materials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0942A0E-F211-7245-8612-B2FE88BDA2CE}"/>
              </a:ext>
            </a:extLst>
          </p:cNvPr>
          <p:cNvSpPr/>
          <p:nvPr/>
        </p:nvSpPr>
        <p:spPr>
          <a:xfrm>
            <a:off x="3302000" y="2819400"/>
            <a:ext cx="762000" cy="2540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BCADEB-CA3C-E244-BF61-35FC97415675}"/>
              </a:ext>
            </a:extLst>
          </p:cNvPr>
          <p:cNvSpPr txBox="1"/>
          <p:nvPr/>
        </p:nvSpPr>
        <p:spPr>
          <a:xfrm>
            <a:off x="4191000" y="3429000"/>
            <a:ext cx="279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25C8A2"/>
                </a:solidFill>
              </a:rPr>
              <a:t>TEACHER DECIDES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C59F0B-5AA1-3846-B08C-914750F6C1C7}"/>
              </a:ext>
            </a:extLst>
          </p:cNvPr>
          <p:cNvSpPr txBox="1"/>
          <p:nvPr/>
        </p:nvSpPr>
        <p:spPr>
          <a:xfrm>
            <a:off x="4191000" y="3810000"/>
            <a:ext cx="279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Approves, edits, overrides, or replaces any AI output. No result is final without human confirmation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C52B18BE-1D23-354E-95A8-F4DD245F538E}"/>
              </a:ext>
            </a:extLst>
          </p:cNvPr>
          <p:cNvSpPr/>
          <p:nvPr/>
        </p:nvSpPr>
        <p:spPr>
          <a:xfrm>
            <a:off x="7112000" y="2819400"/>
            <a:ext cx="762000" cy="2540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A8D032-4326-DA48-9E2F-304CBEFB366E}"/>
              </a:ext>
            </a:extLst>
          </p:cNvPr>
          <p:cNvSpPr txBox="1"/>
          <p:nvPr/>
        </p:nvSpPr>
        <p:spPr>
          <a:xfrm>
            <a:off x="8001000" y="3429000"/>
            <a:ext cx="279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E733C"/>
                </a:solidFill>
              </a:rPr>
              <a:t>STUDENTS BENEFIT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0842BB-94E3-384E-A6D4-5DD8E9EE2732}"/>
              </a:ext>
            </a:extLst>
          </p:cNvPr>
          <p:cNvSpPr txBox="1"/>
          <p:nvPr/>
        </p:nvSpPr>
        <p:spPr>
          <a:xfrm>
            <a:off x="8001000" y="3810000"/>
            <a:ext cx="279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Receive higher-quality, consistent formative feedback that supports reflection and iterative improvement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8FA77BE-4670-9B43-936F-BABF9430B0C5}"/>
              </a:ext>
            </a:extLst>
          </p:cNvPr>
          <p:cNvSpPr/>
          <p:nvPr/>
        </p:nvSpPr>
        <p:spPr>
          <a:xfrm>
            <a:off x="698500" y="5461000"/>
            <a:ext cx="10795000" cy="698500"/>
          </a:xfrm>
          <a:prstGeom prst="roundRect">
            <a:avLst/>
          </a:prstGeom>
          <a:solidFill>
            <a:srgbClr val="0D1C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286847-2ECE-0049-BCD0-1D3C04CA9E21}"/>
              </a:ext>
            </a:extLst>
          </p:cNvPr>
          <p:cNvSpPr txBox="1"/>
          <p:nvPr/>
        </p:nvSpPr>
        <p:spPr>
          <a:xfrm>
            <a:off x="952500" y="5562600"/>
            <a:ext cx="10287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Diotima is not an AI grader. It is assistive infrastructure — it raises the floor of feedback quality while keeping humans firmly in control.</a:t>
            </a:r>
          </a:p>
        </p:txBody>
      </p:sp>
    </p:spTree>
    <p:extLst>
      <p:ext uri="{BB962C8B-B14F-4D97-AF65-F5344CB8AC3E}">
        <p14:creationId xmlns:p14="http://schemas.microsoft.com/office/powerpoint/2010/main" val="2344236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23E4C-765C-30C6-6DE8-D37F5997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The Formative Assessment Lifecycle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CFA19-0B7F-484D-81CD-9F8F5622AB36}"/>
              </a:ext>
            </a:extLst>
          </p:cNvPr>
          <p:cNvSpPr txBox="1"/>
          <p:nvPr/>
        </p:nvSpPr>
        <p:spPr>
          <a:xfrm>
            <a:off x="698500" y="18415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</a:rPr>
              <a:t>Seven stages — from assessment design through to audit</a:t>
            </a:r>
          </a:p>
        </p:txBody>
      </p:sp>
      <p:pic>
        <p:nvPicPr>
          <p:cNvPr id="6" name="Graphic 6" descr="1 Curriculum desig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413000"/>
            <a:ext cx="457200" cy="457200"/>
          </a:xfrm>
          <a:prstGeom prst="rect">
            <a:avLst/>
          </a:prstGeom>
        </p:spPr>
      </p:pic>
      <p:pic>
        <p:nvPicPr>
          <p:cNvPr id="7" name="Graphic 7" descr="2 Teacher approv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500" y="2413000"/>
            <a:ext cx="457200" cy="457200"/>
          </a:xfrm>
          <a:prstGeom prst="rect">
            <a:avLst/>
          </a:prstGeom>
        </p:spPr>
      </p:pic>
      <p:pic>
        <p:nvPicPr>
          <p:cNvPr id="8" name="Graphic 8" descr="3 Student respon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0" y="2413000"/>
            <a:ext cx="457200" cy="457200"/>
          </a:xfrm>
          <a:prstGeom prst="rect">
            <a:avLst/>
          </a:prstGeom>
        </p:spPr>
      </p:pic>
      <p:pic>
        <p:nvPicPr>
          <p:cNvPr id="9" name="Graphic 9" descr="4 Rubric visi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3500" y="2413000"/>
            <a:ext cx="457200" cy="457200"/>
          </a:xfrm>
          <a:prstGeom prst="rect">
            <a:avLst/>
          </a:prstGeom>
        </p:spPr>
      </p:pic>
      <p:pic>
        <p:nvPicPr>
          <p:cNvPr id="10" name="Graphic 10" descr="5 Teacher review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1500" y="4635500"/>
            <a:ext cx="457200" cy="457200"/>
          </a:xfrm>
          <a:prstGeom prst="rect">
            <a:avLst/>
          </a:prstGeom>
        </p:spPr>
      </p:pic>
      <p:pic>
        <p:nvPicPr>
          <p:cNvPr id="11" name="Graphic 11" descr="6 Student feedba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7500" y="4635500"/>
            <a:ext cx="457200" cy="457200"/>
          </a:xfrm>
          <a:prstGeom prst="rect">
            <a:avLst/>
          </a:prstGeom>
        </p:spPr>
      </p:pic>
      <p:pic>
        <p:nvPicPr>
          <p:cNvPr id="12" name="Graphic 12" descr="7 Logging and aud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3500" y="4635500"/>
            <a:ext cx="457200" cy="457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B72424-D08D-9B4C-8FCD-A3B453D5BA06}"/>
              </a:ext>
            </a:extLst>
          </p:cNvPr>
          <p:cNvSpPr txBox="1"/>
          <p:nvPr/>
        </p:nvSpPr>
        <p:spPr>
          <a:xfrm>
            <a:off x="101600" y="29464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BDB44C-3C8F-0F40-A2E1-FB92420F4FD2}"/>
              </a:ext>
            </a:extLst>
          </p:cNvPr>
          <p:cNvSpPr txBox="1"/>
          <p:nvPr/>
        </p:nvSpPr>
        <p:spPr>
          <a:xfrm>
            <a:off x="101600" y="3238500"/>
            <a:ext cx="2159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Curriculum-grounded assessment 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7CF79A-7A51-5D44-B9BA-AE0A71AF7EDC}"/>
              </a:ext>
            </a:extLst>
          </p:cNvPr>
          <p:cNvSpPr txBox="1"/>
          <p:nvPr/>
        </p:nvSpPr>
        <p:spPr>
          <a:xfrm>
            <a:off x="2768600" y="29464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APPROVE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040155-AB95-A045-86E1-071761777618}"/>
              </a:ext>
            </a:extLst>
          </p:cNvPr>
          <p:cNvSpPr txBox="1"/>
          <p:nvPr/>
        </p:nvSpPr>
        <p:spPr>
          <a:xfrm>
            <a:off x="2768600" y="3238500"/>
            <a:ext cx="2159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Teacher pre-approval of all generated content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C4977F-DE18-CA4D-B52D-91A6034DECDE}"/>
              </a:ext>
            </a:extLst>
          </p:cNvPr>
          <p:cNvSpPr txBox="1"/>
          <p:nvPr/>
        </p:nvSpPr>
        <p:spPr>
          <a:xfrm>
            <a:off x="5435600" y="29464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RESPOND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0727B0-DF37-704C-BC9C-CE9C90ED5749}"/>
              </a:ext>
            </a:extLst>
          </p:cNvPr>
          <p:cNvSpPr txBox="1"/>
          <p:nvPr/>
        </p:nvSpPr>
        <p:spPr>
          <a:xfrm>
            <a:off x="5435600" y="3238500"/>
            <a:ext cx="2159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Student response and optional AI pre-check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D12B07-CBD5-C345-B59D-3431D82D86D9}"/>
              </a:ext>
            </a:extLst>
          </p:cNvPr>
          <p:cNvSpPr txBox="1"/>
          <p:nvPr/>
        </p:nvSpPr>
        <p:spPr>
          <a:xfrm>
            <a:off x="8102600" y="29464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REVEAL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99C153-C5EA-F84F-A25B-07C914457E9B}"/>
              </a:ext>
            </a:extLst>
          </p:cNvPr>
          <p:cNvSpPr txBox="1"/>
          <p:nvPr/>
        </p:nvSpPr>
        <p:spPr>
          <a:xfrm>
            <a:off x="8102600" y="3238500"/>
            <a:ext cx="2159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Conditional rubric visibility for students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904ED7-3F0C-554B-8E21-765D5AA87C6F}"/>
              </a:ext>
            </a:extLst>
          </p:cNvPr>
          <p:cNvSpPr txBox="1"/>
          <p:nvPr/>
        </p:nvSpPr>
        <p:spPr>
          <a:xfrm>
            <a:off x="990600" y="51689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REVIEW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7B9617-5D1E-2D40-A7E9-1C79D7E67D53}"/>
              </a:ext>
            </a:extLst>
          </p:cNvPr>
          <p:cNvSpPr txBox="1"/>
          <p:nvPr/>
        </p:nvSpPr>
        <p:spPr>
          <a:xfrm>
            <a:off x="990600" y="5461000"/>
            <a:ext cx="2159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Teacher review, override, and finalisation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52B21C-56B9-3144-978F-C9AB9FABE355}"/>
              </a:ext>
            </a:extLst>
          </p:cNvPr>
          <p:cNvSpPr txBox="1"/>
          <p:nvPr/>
        </p:nvSpPr>
        <p:spPr>
          <a:xfrm>
            <a:off x="4546600" y="51689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REFLECT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E7A09F-135D-5D45-A667-22A92137C693}"/>
              </a:ext>
            </a:extLst>
          </p:cNvPr>
          <p:cNvSpPr txBox="1"/>
          <p:nvPr/>
        </p:nvSpPr>
        <p:spPr>
          <a:xfrm>
            <a:off x="4546600" y="5461000"/>
            <a:ext cx="2159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Student feedback and reflection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119C3B-C602-A24D-B622-E471BB602476}"/>
              </a:ext>
            </a:extLst>
          </p:cNvPr>
          <p:cNvSpPr txBox="1"/>
          <p:nvPr/>
        </p:nvSpPr>
        <p:spPr>
          <a:xfrm>
            <a:off x="8102600" y="51689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AUDIT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D1C376-4F7C-234E-BA34-D0B9D887D221}"/>
              </a:ext>
            </a:extLst>
          </p:cNvPr>
          <p:cNvSpPr txBox="1"/>
          <p:nvPr/>
        </p:nvSpPr>
        <p:spPr>
          <a:xfrm>
            <a:off x="8102600" y="5461000"/>
            <a:ext cx="2159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Comprehensive logging and auditability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5DC553BA-BAAD-B74E-9939-82C1D633013F}"/>
              </a:ext>
            </a:extLst>
          </p:cNvPr>
          <p:cNvSpPr/>
          <p:nvPr/>
        </p:nvSpPr>
        <p:spPr>
          <a:xfrm>
            <a:off x="1879600" y="2565400"/>
            <a:ext cx="1079500" cy="177800"/>
          </a:xfrm>
          <a:prstGeom prst="rightArrow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4491A15A-3C31-2240-954A-92EE36F7D82D}"/>
              </a:ext>
            </a:extLst>
          </p:cNvPr>
          <p:cNvSpPr/>
          <p:nvPr/>
        </p:nvSpPr>
        <p:spPr>
          <a:xfrm>
            <a:off x="4546600" y="2565400"/>
            <a:ext cx="1079500" cy="177800"/>
          </a:xfrm>
          <a:prstGeom prst="rightArrow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2F2B5A4D-CBE9-F843-9F79-2F16121CDAA3}"/>
              </a:ext>
            </a:extLst>
          </p:cNvPr>
          <p:cNvSpPr/>
          <p:nvPr/>
        </p:nvSpPr>
        <p:spPr>
          <a:xfrm>
            <a:off x="7213600" y="2565400"/>
            <a:ext cx="1079500" cy="177800"/>
          </a:xfrm>
          <a:prstGeom prst="rightArrow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00ADB48F-8290-D64C-B796-74B7C85F1A6E}"/>
              </a:ext>
            </a:extLst>
          </p:cNvPr>
          <p:cNvSpPr/>
          <p:nvPr/>
        </p:nvSpPr>
        <p:spPr>
          <a:xfrm>
            <a:off x="2895600" y="4787900"/>
            <a:ext cx="1714500" cy="177800"/>
          </a:xfrm>
          <a:prstGeom prst="rightArrow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EE4DD4D3-870B-3F48-8CDB-BA75F57245AF}"/>
              </a:ext>
            </a:extLst>
          </p:cNvPr>
          <p:cNvSpPr/>
          <p:nvPr/>
        </p:nvSpPr>
        <p:spPr>
          <a:xfrm>
            <a:off x="6451600" y="4787900"/>
            <a:ext cx="1714500" cy="177800"/>
          </a:xfrm>
          <a:prstGeom prst="rightArrow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7ABFFD-045E-D943-843F-67555BDD0A58}"/>
              </a:ext>
            </a:extLst>
          </p:cNvPr>
          <p:cNvSpPr/>
          <p:nvPr/>
        </p:nvSpPr>
        <p:spPr>
          <a:xfrm>
            <a:off x="10858500" y="3746500"/>
            <a:ext cx="50800" cy="7620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8A112F-27D8-AA42-9F29-6633CCCA81A4}"/>
              </a:ext>
            </a:extLst>
          </p:cNvPr>
          <p:cNvSpPr/>
          <p:nvPr/>
        </p:nvSpPr>
        <p:spPr>
          <a:xfrm>
            <a:off x="952500" y="4457700"/>
            <a:ext cx="9956800" cy="508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20EB25-B784-1041-8D65-B930345D9803}"/>
              </a:ext>
            </a:extLst>
          </p:cNvPr>
          <p:cNvSpPr/>
          <p:nvPr/>
        </p:nvSpPr>
        <p:spPr>
          <a:xfrm>
            <a:off x="952500" y="4457700"/>
            <a:ext cx="50800" cy="2540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Down Arrow 40">
            <a:extLst>
              <a:ext uri="{FF2B5EF4-FFF2-40B4-BE49-F238E27FC236}">
                <a16:creationId xmlns:a16="http://schemas.microsoft.com/office/drawing/2014/main" id="{9478BAC8-194E-FB40-8A4A-851B4885B8C5}"/>
              </a:ext>
            </a:extLst>
          </p:cNvPr>
          <p:cNvSpPr/>
          <p:nvPr/>
        </p:nvSpPr>
        <p:spPr>
          <a:xfrm>
            <a:off x="889000" y="4635500"/>
            <a:ext cx="177800" cy="177800"/>
          </a:xfrm>
          <a:prstGeom prst="downArrow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9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4A5F-A9B4-A009-EAD7-A51CF93C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10890929" cy="635000"/>
          </a:xfrm>
        </p:spPr>
        <p:txBody>
          <a:bodyPr>
            <a:normAutofit/>
          </a:bodyPr>
          <a:lstStyle/>
          <a:p>
            <a:r>
              <a:rPr lang="en-US" sz="2200"/>
              <a:t>Option C: Architecture Built for Compliance</a:t>
            </a:r>
            <a:endParaRPr lang="en-US" sz="22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7B963B-C123-F840-BD38-C438757581B3}"/>
              </a:ext>
            </a:extLst>
          </p:cNvPr>
          <p:cNvSpPr/>
          <p:nvPr/>
        </p:nvSpPr>
        <p:spPr>
          <a:xfrm>
            <a:off x="444500" y="2159000"/>
            <a:ext cx="5549900" cy="1651000"/>
          </a:xfrm>
          <a:prstGeom prst="roundRect">
            <a:avLst/>
          </a:prstGeom>
          <a:solidFill>
            <a:srgbClr val="F0F6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8E457-4638-AD40-8486-4936D500D184}"/>
              </a:ext>
            </a:extLst>
          </p:cNvPr>
          <p:cNvSpPr txBox="1"/>
          <p:nvPr/>
        </p:nvSpPr>
        <p:spPr>
          <a:xfrm>
            <a:off x="1206500" y="2286000"/>
            <a:ext cx="46609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973EB"/>
                </a:solidFill>
              </a:rPr>
              <a:t>Grounded Content 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360CF7-1CDA-2543-B6FD-1CF52438D81F}"/>
              </a:ext>
            </a:extLst>
          </p:cNvPr>
          <p:cNvSpPr txBox="1"/>
          <p:nvPr/>
        </p:nvSpPr>
        <p:spPr>
          <a:xfrm>
            <a:off x="1206500" y="2692400"/>
            <a:ext cx="46609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Every AI output is linked to approved curriculum, learning outcomes, and Bloom's levels. Hallucination is prevented by structure, not prompting.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812DD2A-217F-4F43-99DE-DD77079325E4}"/>
              </a:ext>
            </a:extLst>
          </p:cNvPr>
          <p:cNvSpPr/>
          <p:nvPr/>
        </p:nvSpPr>
        <p:spPr>
          <a:xfrm>
            <a:off x="6197600" y="2159000"/>
            <a:ext cx="5549900" cy="1651000"/>
          </a:xfrm>
          <a:prstGeom prst="roundRect">
            <a:avLst/>
          </a:prstGeom>
          <a:solidFill>
            <a:srgbClr val="FFF0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AD951B-72D9-2149-A04D-D31142A35561}"/>
              </a:ext>
            </a:extLst>
          </p:cNvPr>
          <p:cNvSpPr txBox="1"/>
          <p:nvPr/>
        </p:nvSpPr>
        <p:spPr>
          <a:xfrm>
            <a:off x="7023100" y="2286000"/>
            <a:ext cx="4597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E5A5A"/>
                </a:solidFill>
              </a:rPr>
              <a:t>Narrowly Scoped High-Risk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A8801-E295-2B4B-8995-FF2D90EF5C4C}"/>
              </a:ext>
            </a:extLst>
          </p:cNvPr>
          <p:cNvSpPr txBox="1"/>
          <p:nvPr/>
        </p:nvSpPr>
        <p:spPr>
          <a:xfrm>
            <a:off x="7023100" y="2692400"/>
            <a:ext cx="45974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Only 2 engines are classified as high-risk under the EU AI Act. All other components are supporting infrastructure outside the regulatory perimeter.</a:t>
            </a:r>
          </a:p>
        </p:txBody>
      </p:sp>
      <p:pic>
        <p:nvPicPr>
          <p:cNvPr id="29" name="Graphic 29" descr="Chain link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2298700"/>
            <a:ext cx="431800" cy="431800"/>
          </a:xfrm>
          <a:prstGeom prst="rect">
            <a:avLst/>
          </a:prstGeom>
        </p:spPr>
      </p:pic>
      <p:pic>
        <p:nvPicPr>
          <p:cNvPr id="30" name="Graphic 30" descr="Target icon for narrow scop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0000" y="2298700"/>
            <a:ext cx="431800" cy="431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BD8095-2842-A645-987B-21AC9BD806FE}"/>
              </a:ext>
            </a:extLst>
          </p:cNvPr>
          <p:cNvSpPr txBox="1"/>
          <p:nvPr/>
        </p:nvSpPr>
        <p:spPr>
          <a:xfrm>
            <a:off x="444500" y="41275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BLOOM'S TAXONOMY LEVELS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E6181C6-79E7-AE4A-AC61-59D051B974D1}"/>
              </a:ext>
            </a:extLst>
          </p:cNvPr>
          <p:cNvSpPr/>
          <p:nvPr/>
        </p:nvSpPr>
        <p:spPr>
          <a:xfrm>
            <a:off x="444500" y="4419600"/>
            <a:ext cx="1168400" cy="330200"/>
          </a:xfrm>
          <a:prstGeom prst="roundRect">
            <a:avLst/>
          </a:prstGeom>
          <a:solidFill>
            <a:srgbClr val="E3F2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565C0"/>
                </a:solidFill>
              </a:rPr>
              <a:t>Remember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351855C-330E-644F-8166-EF8ECDFB034B}"/>
              </a:ext>
            </a:extLst>
          </p:cNvPr>
          <p:cNvSpPr/>
          <p:nvPr/>
        </p:nvSpPr>
        <p:spPr>
          <a:xfrm>
            <a:off x="1689100" y="4419600"/>
            <a:ext cx="1397000" cy="330200"/>
          </a:xfrm>
          <a:prstGeom prst="roundRect">
            <a:avLst/>
          </a:prstGeom>
          <a:solidFill>
            <a:srgbClr val="E0F2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0796B"/>
                </a:solidFill>
              </a:rPr>
              <a:t>Understand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A72D844-C076-5A4D-B17C-7A70BEBC9EAE}"/>
              </a:ext>
            </a:extLst>
          </p:cNvPr>
          <p:cNvSpPr/>
          <p:nvPr/>
        </p:nvSpPr>
        <p:spPr>
          <a:xfrm>
            <a:off x="3162300" y="4419600"/>
            <a:ext cx="825500" cy="330200"/>
          </a:xfrm>
          <a:prstGeom prst="roundRect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E7D32"/>
                </a:solidFill>
              </a:rPr>
              <a:t>Apply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0963B71-EADD-8E41-98B4-F0376A9BEBE0}"/>
              </a:ext>
            </a:extLst>
          </p:cNvPr>
          <p:cNvSpPr/>
          <p:nvPr/>
        </p:nvSpPr>
        <p:spPr>
          <a:xfrm>
            <a:off x="4064000" y="4419600"/>
            <a:ext cx="1054100" cy="330200"/>
          </a:xfrm>
          <a:prstGeom prst="roundRect">
            <a:avLst/>
          </a:prstGeom>
          <a:solidFill>
            <a:srgbClr val="FFF8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57F17"/>
                </a:solidFill>
              </a:rPr>
              <a:t>Analyse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6A22CCB-183E-1C4B-8DCA-98E874344EF5}"/>
              </a:ext>
            </a:extLst>
          </p:cNvPr>
          <p:cNvSpPr/>
          <p:nvPr/>
        </p:nvSpPr>
        <p:spPr>
          <a:xfrm>
            <a:off x="5194300" y="4419600"/>
            <a:ext cx="1168400" cy="330200"/>
          </a:xfrm>
          <a:prstGeom prst="roundRect">
            <a:avLst/>
          </a:prstGeom>
          <a:solidFill>
            <a:srgbClr val="FBE9E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D84315"/>
                </a:solidFill>
              </a:rPr>
              <a:t>Evaluate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E5D36F4-7231-B941-978F-8E2C8FE6287F}"/>
              </a:ext>
            </a:extLst>
          </p:cNvPr>
          <p:cNvSpPr/>
          <p:nvPr/>
        </p:nvSpPr>
        <p:spPr>
          <a:xfrm>
            <a:off x="6438900" y="4419600"/>
            <a:ext cx="939800" cy="330200"/>
          </a:xfrm>
          <a:prstGeom prst="roundRect">
            <a:avLst/>
          </a:prstGeom>
          <a:solidFill>
            <a:srgbClr val="EDE7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527A0"/>
                </a:solidFill>
              </a:rPr>
              <a:t>Create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A49547-347C-7D45-960E-C989266E354C}"/>
              </a:ext>
            </a:extLst>
          </p:cNvPr>
          <p:cNvSpPr txBox="1"/>
          <p:nvPr/>
        </p:nvSpPr>
        <p:spPr>
          <a:xfrm>
            <a:off x="7581900" y="44196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</a:rPr>
              <a:t>Lower Order  →  Higher Order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B32B5F-1637-4645-811B-CE98E9C1941D}"/>
              </a:ext>
            </a:extLst>
          </p:cNvPr>
          <p:cNvSpPr txBox="1"/>
          <p:nvPr/>
        </p:nvSpPr>
        <p:spPr>
          <a:xfrm>
            <a:off x="444500" y="49784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SYSTEM ARCHITECTURE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F35D589-D511-3340-91AD-0FE142DFE355}"/>
              </a:ext>
            </a:extLst>
          </p:cNvPr>
          <p:cNvSpPr/>
          <p:nvPr/>
        </p:nvSpPr>
        <p:spPr>
          <a:xfrm>
            <a:off x="444500" y="5257800"/>
            <a:ext cx="1549400" cy="812800"/>
          </a:xfrm>
          <a:prstGeom prst="roundRect">
            <a:avLst/>
          </a:prstGeom>
          <a:solidFill>
            <a:srgbClr val="FE5A5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QAR
Generation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1A39355-DB67-FA40-A352-0804839ED303}"/>
              </a:ext>
            </a:extLst>
          </p:cNvPr>
          <p:cNvSpPr/>
          <p:nvPr/>
        </p:nvSpPr>
        <p:spPr>
          <a:xfrm>
            <a:off x="2057400" y="5257800"/>
            <a:ext cx="1549400" cy="812800"/>
          </a:xfrm>
          <a:prstGeom prst="roundRect">
            <a:avLst/>
          </a:prstGeom>
          <a:solidFill>
            <a:srgbClr val="FE5A5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AI Inference
&amp; Feedback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523FFE9-31AF-2248-8741-30214449CE3A}"/>
              </a:ext>
            </a:extLst>
          </p:cNvPr>
          <p:cNvSpPr/>
          <p:nvPr/>
        </p:nvSpPr>
        <p:spPr>
          <a:xfrm>
            <a:off x="3670300" y="5257800"/>
            <a:ext cx="1549400" cy="812800"/>
          </a:xfrm>
          <a:prstGeom prst="round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Curriculum
Ingestion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C0A0EF3-0AB4-D44C-AE4B-BCB6CBB5BF57}"/>
              </a:ext>
            </a:extLst>
          </p:cNvPr>
          <p:cNvSpPr/>
          <p:nvPr/>
        </p:nvSpPr>
        <p:spPr>
          <a:xfrm>
            <a:off x="5283200" y="5257800"/>
            <a:ext cx="1549400" cy="812800"/>
          </a:xfrm>
          <a:prstGeom prst="round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Orchestration
Layer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A8FFB39-8BB4-BB48-B8C4-D6A80D20ED73}"/>
              </a:ext>
            </a:extLst>
          </p:cNvPr>
          <p:cNvSpPr/>
          <p:nvPr/>
        </p:nvSpPr>
        <p:spPr>
          <a:xfrm>
            <a:off x="6896100" y="5257800"/>
            <a:ext cx="1549400" cy="812800"/>
          </a:xfrm>
          <a:prstGeom prst="round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User
Interface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A8CDF4A-E46F-964D-A45D-B625D4FB68A7}"/>
              </a:ext>
            </a:extLst>
          </p:cNvPr>
          <p:cNvSpPr/>
          <p:nvPr/>
        </p:nvSpPr>
        <p:spPr>
          <a:xfrm>
            <a:off x="8509000" y="5257800"/>
            <a:ext cx="1549400" cy="812800"/>
          </a:xfrm>
          <a:prstGeom prst="round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Data
Storage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F10428E-6565-9F45-81C2-4DED20096824}"/>
              </a:ext>
            </a:extLst>
          </p:cNvPr>
          <p:cNvSpPr/>
          <p:nvPr/>
        </p:nvSpPr>
        <p:spPr>
          <a:xfrm>
            <a:off x="10121900" y="5257800"/>
            <a:ext cx="1549400" cy="812800"/>
          </a:xfrm>
          <a:prstGeom prst="round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Integration
APIs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632FB1E-15F7-5B4C-BB80-E08E4A364E46}"/>
              </a:ext>
            </a:extLst>
          </p:cNvPr>
          <p:cNvSpPr/>
          <p:nvPr/>
        </p:nvSpPr>
        <p:spPr>
          <a:xfrm>
            <a:off x="444500" y="6248400"/>
            <a:ext cx="177800" cy="177800"/>
          </a:xfrm>
          <a:prstGeom prst="roundRect">
            <a:avLst/>
          </a:prstGeom>
          <a:solidFill>
            <a:srgbClr val="FE5A5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FDF0A8-129A-0543-A431-EB758A181C36}"/>
              </a:ext>
            </a:extLst>
          </p:cNvPr>
          <p:cNvSpPr txBox="1"/>
          <p:nvPr/>
        </p:nvSpPr>
        <p:spPr>
          <a:xfrm>
            <a:off x="685800" y="6235700"/>
            <a:ext cx="1905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High-Risk (EU AI Act)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04D18F4-9B59-6D4C-8845-94D7887E7AD9}"/>
              </a:ext>
            </a:extLst>
          </p:cNvPr>
          <p:cNvSpPr/>
          <p:nvPr/>
        </p:nvSpPr>
        <p:spPr>
          <a:xfrm>
            <a:off x="2667000" y="6248400"/>
            <a:ext cx="177800" cy="177800"/>
          </a:xfrm>
          <a:prstGeom prst="round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2C150A-3C23-E441-ADD9-5867B3CA47E3}"/>
              </a:ext>
            </a:extLst>
          </p:cNvPr>
          <p:cNvSpPr txBox="1"/>
          <p:nvPr/>
        </p:nvSpPr>
        <p:spPr>
          <a:xfrm>
            <a:off x="2908300" y="6235700"/>
            <a:ext cx="228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</a:rPr>
              <a:t>Supporting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444720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8A76A-BC7F-0FA6-624E-6A8732714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10890929" cy="508000"/>
          </a:xfrm>
        </p:spPr>
        <p:txBody>
          <a:bodyPr>
            <a:normAutofit/>
          </a:bodyPr>
          <a:lstStyle/>
          <a:p>
            <a:r>
              <a:rPr lang="en-US" sz="2400"/>
              <a:t>Human Oversight as a Structural Feature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DDB8B5-7E7F-8341-B932-62C86431476A}"/>
              </a:ext>
            </a:extLst>
          </p:cNvPr>
          <p:cNvSpPr txBox="1"/>
          <p:nvPr/>
        </p:nvSpPr>
        <p:spPr>
          <a:xfrm>
            <a:off x="635000" y="1803400"/>
            <a:ext cx="1092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</a:rPr>
              <a:t>Article 14 of the EU AI Act requires meaningful human oversight. In Diotima, oversight is enforced by the workflow — not merely declared as policy.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6C0874-2379-7F4D-B35D-685F979D43D3}"/>
              </a:ext>
            </a:extLst>
          </p:cNvPr>
          <p:cNvSpPr txBox="1"/>
          <p:nvPr/>
        </p:nvSpPr>
        <p:spPr>
          <a:xfrm>
            <a:off x="5461000" y="40132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200" b="1" dirty="0">
                <a:solidFill>
                  <a:srgbClr val="1973EB"/>
                </a:solidFill>
              </a:rPr>
              <a:t>THE TEACHER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5FEC460-C2C2-1E4D-8F4A-08791FBB09F7}"/>
              </a:ext>
            </a:extLst>
          </p:cNvPr>
          <p:cNvSpPr/>
          <p:nvPr/>
        </p:nvSpPr>
        <p:spPr>
          <a:xfrm>
            <a:off x="508000" y="2413000"/>
            <a:ext cx="2794000" cy="1270000"/>
          </a:xfrm>
          <a:prstGeom prst="roundRect">
            <a:avLst/>
          </a:prstGeom>
          <a:solidFill>
            <a:srgbClr val="F8F8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34BAB1-2F6B-9D44-9A7B-744DC6EDB0B3}"/>
              </a:ext>
            </a:extLst>
          </p:cNvPr>
          <p:cNvSpPr txBox="1"/>
          <p:nvPr/>
        </p:nvSpPr>
        <p:spPr>
          <a:xfrm>
            <a:off x="635000" y="289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Approves Every Item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17210F-B4A7-1849-A6A0-6AE822FBD369}"/>
              </a:ext>
            </a:extLst>
          </p:cNvPr>
          <p:cNvSpPr txBox="1"/>
          <p:nvPr/>
        </p:nvSpPr>
        <p:spPr>
          <a:xfrm>
            <a:off x="635000" y="3149600"/>
            <a:ext cx="254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No AI output reaches students without teacher approval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113B947-375B-0F43-970B-007FA3DC5934}"/>
              </a:ext>
            </a:extLst>
          </p:cNvPr>
          <p:cNvSpPr/>
          <p:nvPr/>
        </p:nvSpPr>
        <p:spPr>
          <a:xfrm>
            <a:off x="508000" y="3911600"/>
            <a:ext cx="2794000" cy="1270000"/>
          </a:xfrm>
          <a:prstGeom prst="roundRect">
            <a:avLst/>
          </a:prstGeom>
          <a:solidFill>
            <a:srgbClr val="F8F8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343728-8E04-CB43-9484-9546147E7D0A}"/>
              </a:ext>
            </a:extLst>
          </p:cNvPr>
          <p:cNvSpPr txBox="1"/>
          <p:nvPr/>
        </p:nvSpPr>
        <p:spPr>
          <a:xfrm>
            <a:off x="635000" y="4394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Overrides AI Judgement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016D90-C028-0248-8A35-BD76F21C50B8}"/>
              </a:ext>
            </a:extLst>
          </p:cNvPr>
          <p:cNvSpPr txBox="1"/>
          <p:nvPr/>
        </p:nvSpPr>
        <p:spPr>
          <a:xfrm>
            <a:off x="635000" y="4648200"/>
            <a:ext cx="254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AI rubric placements are always provisional, never final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B90E47B-56D9-404B-BA6A-23A5A32CF36C}"/>
              </a:ext>
            </a:extLst>
          </p:cNvPr>
          <p:cNvSpPr/>
          <p:nvPr/>
        </p:nvSpPr>
        <p:spPr>
          <a:xfrm>
            <a:off x="8890000" y="2413000"/>
            <a:ext cx="2794000" cy="1270000"/>
          </a:xfrm>
          <a:prstGeom prst="roundRect">
            <a:avLst/>
          </a:prstGeom>
          <a:solidFill>
            <a:srgbClr val="F8F8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C9AA83-ABB1-054F-AF8B-BECEE5885DDB}"/>
              </a:ext>
            </a:extLst>
          </p:cNvPr>
          <p:cNvSpPr txBox="1"/>
          <p:nvPr/>
        </p:nvSpPr>
        <p:spPr>
          <a:xfrm>
            <a:off x="9017000" y="289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Owns the Record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7F044F-E7F8-FE4A-AFFD-1A9180265B3E}"/>
              </a:ext>
            </a:extLst>
          </p:cNvPr>
          <p:cNvSpPr txBox="1"/>
          <p:nvPr/>
        </p:nvSpPr>
        <p:spPr>
          <a:xfrm>
            <a:off x="9017000" y="3149600"/>
            <a:ext cx="254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Only teacher-confirmed results stored as authoritative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C5A284D-0DEC-7443-91E4-168161FBAF45}"/>
              </a:ext>
            </a:extLst>
          </p:cNvPr>
          <p:cNvSpPr/>
          <p:nvPr/>
        </p:nvSpPr>
        <p:spPr>
          <a:xfrm>
            <a:off x="8890000" y="3911600"/>
            <a:ext cx="2794000" cy="1270000"/>
          </a:xfrm>
          <a:prstGeom prst="roundRect">
            <a:avLst/>
          </a:prstGeom>
          <a:solidFill>
            <a:srgbClr val="F8F8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D8E68C-C238-324F-B526-38930FDCF3A1}"/>
              </a:ext>
            </a:extLst>
          </p:cNvPr>
          <p:cNvSpPr txBox="1"/>
          <p:nvPr/>
        </p:nvSpPr>
        <p:spPr>
          <a:xfrm>
            <a:off x="9017000" y="4394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Holds Accountability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7F1370-04A0-B545-B5D8-F3943692A988}"/>
              </a:ext>
            </a:extLst>
          </p:cNvPr>
          <p:cNvSpPr txBox="1"/>
          <p:nvPr/>
        </p:nvSpPr>
        <p:spPr>
          <a:xfrm>
            <a:off x="9017000" y="4648200"/>
            <a:ext cx="254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Accountability stays with the human, not the algorithm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40C4D6F-9225-AD49-890C-5D7D7742CEAE}"/>
              </a:ext>
            </a:extLst>
          </p:cNvPr>
          <p:cNvSpPr/>
          <p:nvPr/>
        </p:nvSpPr>
        <p:spPr>
          <a:xfrm>
            <a:off x="635000" y="5740400"/>
            <a:ext cx="10922000" cy="482600"/>
          </a:xfrm>
          <a:prstGeom prst="roundRect">
            <a:avLst/>
          </a:prstGeom>
          <a:solidFill>
            <a:srgbClr val="0D1C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A6E5DE-05D7-EA41-9025-585AFA5DE703}"/>
              </a:ext>
            </a:extLst>
          </p:cNvPr>
          <p:cNvSpPr txBox="1"/>
          <p:nvPr/>
        </p:nvSpPr>
        <p:spPr>
          <a:xfrm>
            <a:off x="762000" y="5778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Oversight is not a policy checkbox — it is embedded in every step of the workflow</a:t>
            </a:r>
          </a:p>
        </p:txBody>
      </p:sp>
      <p:pic>
        <p:nvPicPr>
          <p:cNvPr id="27" name="Graphic 27" descr="Approva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1800" y="2476500"/>
            <a:ext cx="406400" cy="406400"/>
          </a:xfrm>
          <a:prstGeom prst="rect">
            <a:avLst/>
          </a:prstGeom>
        </p:spPr>
      </p:pic>
      <p:pic>
        <p:nvPicPr>
          <p:cNvPr id="28" name="Graphic 28" descr="Override/ed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1800" y="3975100"/>
            <a:ext cx="406400" cy="406400"/>
          </a:xfrm>
          <a:prstGeom prst="rect">
            <a:avLst/>
          </a:prstGeom>
        </p:spPr>
      </p:pic>
      <p:pic>
        <p:nvPicPr>
          <p:cNvPr id="29" name="Graphic 29" descr="Record/lock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83800" y="2476500"/>
            <a:ext cx="406400" cy="406400"/>
          </a:xfrm>
          <a:prstGeom prst="rect">
            <a:avLst/>
          </a:prstGeom>
        </p:spPr>
      </p:pic>
      <p:pic>
        <p:nvPicPr>
          <p:cNvPr id="30" name="Graphic 30" descr="Accountability/scale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3800" y="3975100"/>
            <a:ext cx="406400" cy="406400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61963E-4148-504D-9D86-5F1F0C96AFF0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90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4790F3F-B790-4B4F-B216-2B8C954FE168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90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6B311E5-79FA-F140-AA1F-0B2DE250AFFB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90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50A01D-DD2B-4F4D-9607-6FDDF1439710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90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1" descr="Professor/teach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9600" y="3149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50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D86A-0269-F517-C918-F9D7F98D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10890929" cy="508000"/>
          </a:xfrm>
        </p:spPr>
        <p:txBody>
          <a:bodyPr>
            <a:normAutofit/>
          </a:bodyPr>
          <a:lstStyle/>
          <a:p>
            <a:r>
              <a:rPr lang="en-US" sz="2400"/>
              <a:t>Explainability for Teachers and Learners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320AB-46AD-FE4C-B098-CDB54A493CEC}"/>
              </a:ext>
            </a:extLst>
          </p:cNvPr>
          <p:cNvSpPr txBox="1"/>
          <p:nvPr/>
        </p:nvSpPr>
        <p:spPr>
          <a:xfrm>
            <a:off x="635000" y="19304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</a:rPr>
              <a:t>Explainability adapts to the audience — full transparency for teachers, progressive disclosure for students.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690D89-CCF3-444B-842D-65E7A1FF2836}"/>
              </a:ext>
            </a:extLst>
          </p:cNvPr>
          <p:cNvSpPr/>
          <p:nvPr/>
        </p:nvSpPr>
        <p:spPr>
          <a:xfrm>
            <a:off x="6057900" y="2476500"/>
            <a:ext cx="38100" cy="34290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89461A-BAFB-0E48-A7D2-8704C3536106}"/>
              </a:ext>
            </a:extLst>
          </p:cNvPr>
          <p:cNvSpPr txBox="1"/>
          <p:nvPr/>
        </p:nvSpPr>
        <p:spPr>
          <a:xfrm>
            <a:off x="635000" y="2540000"/>
            <a:ext cx="520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973EB"/>
                </a:solidFill>
              </a:rPr>
              <a:t>FOR TEACHERS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8D516-574E-314D-A905-41CEFB420874}"/>
              </a:ext>
            </a:extLst>
          </p:cNvPr>
          <p:cNvSpPr txBox="1"/>
          <p:nvPr/>
        </p:nvSpPr>
        <p:spPr>
          <a:xfrm>
            <a:off x="1206500" y="29845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Full Visibility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D92055-D362-0E4F-B716-D6FE5F9FE372}"/>
              </a:ext>
            </a:extLst>
          </p:cNvPr>
          <p:cNvSpPr txBox="1"/>
          <p:nvPr/>
        </p:nvSpPr>
        <p:spPr>
          <a:xfrm>
            <a:off x="1206500" y="3238500"/>
            <a:ext cx="457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See rubrics, source texts, and AI reasoning context for every output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A98F3A-F851-9844-9985-B28BCBB0ED52}"/>
              </a:ext>
            </a:extLst>
          </p:cNvPr>
          <p:cNvSpPr/>
          <p:nvPr/>
        </p:nvSpPr>
        <p:spPr>
          <a:xfrm>
            <a:off x="736600" y="3035300"/>
            <a:ext cx="279400" cy="279400"/>
          </a:xfrm>
          <a:prstGeom prst="ellipse">
            <a:avLst/>
          </a:prstGeom>
          <a:solidFill>
            <a:srgbClr val="197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B718BD-C415-D447-BFE4-124E71E2BA9B}"/>
              </a:ext>
            </a:extLst>
          </p:cNvPr>
          <p:cNvSpPr txBox="1"/>
          <p:nvPr/>
        </p:nvSpPr>
        <p:spPr>
          <a:xfrm>
            <a:off x="1206500" y="39370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Traceable Outputs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45EA3D-4609-9249-B08B-A0F5FC423A3A}"/>
              </a:ext>
            </a:extLst>
          </p:cNvPr>
          <p:cNvSpPr txBox="1"/>
          <p:nvPr/>
        </p:nvSpPr>
        <p:spPr>
          <a:xfrm>
            <a:off x="1206500" y="4191000"/>
            <a:ext cx="457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Every item linked to the curriculum materials that grounded it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A6CE5C-0075-BD47-9BB6-5A1F280C5486}"/>
              </a:ext>
            </a:extLst>
          </p:cNvPr>
          <p:cNvSpPr/>
          <p:nvPr/>
        </p:nvSpPr>
        <p:spPr>
          <a:xfrm>
            <a:off x="736600" y="3987800"/>
            <a:ext cx="279400" cy="279400"/>
          </a:xfrm>
          <a:prstGeom prst="ellipse">
            <a:avLst/>
          </a:prstGeom>
          <a:solidFill>
            <a:srgbClr val="197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9943E-18F9-A546-8F81-8994BCD1EEB4}"/>
              </a:ext>
            </a:extLst>
          </p:cNvPr>
          <p:cNvSpPr txBox="1"/>
          <p:nvPr/>
        </p:nvSpPr>
        <p:spPr>
          <a:xfrm>
            <a:off x="1206500" y="48895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Rejection Signals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37518A-C522-EB4E-8E10-8D74E07D1334}"/>
              </a:ext>
            </a:extLst>
          </p:cNvPr>
          <p:cNvSpPr txBox="1"/>
          <p:nvPr/>
        </p:nvSpPr>
        <p:spPr>
          <a:xfrm>
            <a:off x="1206500" y="5143500"/>
            <a:ext cx="457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Rejection patterns serve as ongoing feedback about model performance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B0C1E91-78FD-4E48-ABF1-0B6CAF7C40FF}"/>
              </a:ext>
            </a:extLst>
          </p:cNvPr>
          <p:cNvSpPr/>
          <p:nvPr/>
        </p:nvSpPr>
        <p:spPr>
          <a:xfrm>
            <a:off x="736600" y="4940300"/>
            <a:ext cx="279400" cy="279400"/>
          </a:xfrm>
          <a:prstGeom prst="ellipse">
            <a:avLst/>
          </a:prstGeom>
          <a:solidFill>
            <a:srgbClr val="197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16CCE3-A7C9-FE4A-A84F-2DD491A54938}"/>
              </a:ext>
            </a:extLst>
          </p:cNvPr>
          <p:cNvSpPr txBox="1"/>
          <p:nvPr/>
        </p:nvSpPr>
        <p:spPr>
          <a:xfrm>
            <a:off x="6350000" y="2540000"/>
            <a:ext cx="520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25C8A2"/>
                </a:solidFill>
              </a:rPr>
              <a:t>FOR STUDENTS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292275-7819-9A47-9D25-EC607C6BE82E}"/>
              </a:ext>
            </a:extLst>
          </p:cNvPr>
          <p:cNvSpPr txBox="1"/>
          <p:nvPr/>
        </p:nvSpPr>
        <p:spPr>
          <a:xfrm>
            <a:off x="6921500" y="29845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Progressive Reveal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479292-12A9-3347-8B98-EDC36E89603E}"/>
              </a:ext>
            </a:extLst>
          </p:cNvPr>
          <p:cNvSpPr txBox="1"/>
          <p:nvPr/>
        </p:nvSpPr>
        <p:spPr>
          <a:xfrm>
            <a:off x="6921500" y="3238500"/>
            <a:ext cx="457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Rubric information shown conditionally and progressively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A3956E8-3927-754D-9540-97432CFAFE9F}"/>
              </a:ext>
            </a:extLst>
          </p:cNvPr>
          <p:cNvSpPr/>
          <p:nvPr/>
        </p:nvSpPr>
        <p:spPr>
          <a:xfrm>
            <a:off x="6451600" y="3035300"/>
            <a:ext cx="279400" cy="279400"/>
          </a:xfrm>
          <a:prstGeom prst="ellipse">
            <a:avLst/>
          </a:prstGeom>
          <a:solidFill>
            <a:srgbClr val="25C8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D53FA2-C98C-C146-9626-088B5D59C7B0}"/>
              </a:ext>
            </a:extLst>
          </p:cNvPr>
          <p:cNvSpPr txBox="1"/>
          <p:nvPr/>
        </p:nvSpPr>
        <p:spPr>
          <a:xfrm>
            <a:off x="6921500" y="39370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After Genuine Attempt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8FB7C7-556F-6941-9A11-2AD306F187AE}"/>
              </a:ext>
            </a:extLst>
          </p:cNvPr>
          <p:cNvSpPr txBox="1"/>
          <p:nvPr/>
        </p:nvSpPr>
        <p:spPr>
          <a:xfrm>
            <a:off x="6921500" y="4191000"/>
            <a:ext cx="457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Performance bands revealed only after the student has tried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C407657-8A31-E94E-ABB2-A0CF0E67F084}"/>
              </a:ext>
            </a:extLst>
          </p:cNvPr>
          <p:cNvSpPr/>
          <p:nvPr/>
        </p:nvSpPr>
        <p:spPr>
          <a:xfrm>
            <a:off x="6451600" y="3987800"/>
            <a:ext cx="279400" cy="279400"/>
          </a:xfrm>
          <a:prstGeom prst="ellipse">
            <a:avLst/>
          </a:prstGeom>
          <a:solidFill>
            <a:srgbClr val="25C8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8216D0-94FD-E44B-8D09-AF04C7679BB0}"/>
              </a:ext>
            </a:extLst>
          </p:cNvPr>
          <p:cNvSpPr txBox="1"/>
          <p:nvPr/>
        </p:nvSpPr>
        <p:spPr>
          <a:xfrm>
            <a:off x="6921500" y="48895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Growth-Oriented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06B3E6-FCE3-B74E-8B66-602BA237782B}"/>
              </a:ext>
            </a:extLst>
          </p:cNvPr>
          <p:cNvSpPr txBox="1"/>
          <p:nvPr/>
        </p:nvSpPr>
        <p:spPr>
          <a:xfrm>
            <a:off x="6921500" y="5143500"/>
            <a:ext cx="457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Feedback oriented toward improvement and next steps, not terminal judgement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C3D477A-7FC1-2248-8936-631429000F60}"/>
              </a:ext>
            </a:extLst>
          </p:cNvPr>
          <p:cNvSpPr/>
          <p:nvPr/>
        </p:nvSpPr>
        <p:spPr>
          <a:xfrm>
            <a:off x="6451600" y="4940300"/>
            <a:ext cx="279400" cy="279400"/>
          </a:xfrm>
          <a:prstGeom prst="ellipse">
            <a:avLst/>
          </a:prstGeom>
          <a:solidFill>
            <a:srgbClr val="25C8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CC262B8-F8CF-CA4D-BC4C-0D374E0B5590}"/>
              </a:ext>
            </a:extLst>
          </p:cNvPr>
          <p:cNvSpPr/>
          <p:nvPr/>
        </p:nvSpPr>
        <p:spPr>
          <a:xfrm>
            <a:off x="635000" y="6096000"/>
            <a:ext cx="10922000" cy="457200"/>
          </a:xfrm>
          <a:prstGeom prst="roundRect">
            <a:avLst/>
          </a:prstGeom>
          <a:solidFill>
            <a:srgbClr val="0D1C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3F973C-5C37-2741-AC6F-D9DC0F0357BD}"/>
              </a:ext>
            </a:extLst>
          </p:cNvPr>
          <p:cNvSpPr txBox="1"/>
          <p:nvPr/>
        </p:nvSpPr>
        <p:spPr>
          <a:xfrm>
            <a:off x="762000" y="61341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Explainability is not one-size-fits-all — it adapts to the audience and context</a:t>
            </a:r>
          </a:p>
        </p:txBody>
      </p:sp>
      <p:pic>
        <p:nvPicPr>
          <p:cNvPr id="28" name="Graphic 28" descr="Teach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00" y="2501900"/>
            <a:ext cx="355600" cy="355600"/>
          </a:xfrm>
          <a:prstGeom prst="rect">
            <a:avLst/>
          </a:prstGeom>
        </p:spPr>
      </p:pic>
      <p:pic>
        <p:nvPicPr>
          <p:cNvPr id="29" name="Graphic 29" descr="Student gradua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0" y="25019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69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629A5-1FAD-020B-7483-820992F58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10890929" cy="508000"/>
          </a:xfrm>
        </p:spPr>
        <p:txBody>
          <a:bodyPr>
            <a:normAutofit/>
          </a:bodyPr>
          <a:lstStyle/>
          <a:p>
            <a:r>
              <a:rPr lang="en-US" sz="2400"/>
              <a:t>Responsible Model Selection &amp; Evaluation</a:t>
            </a:r>
            <a:endParaRPr lang="en-US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7D1F766-B5B1-E447-B169-E047050DA945}"/>
              </a:ext>
            </a:extLst>
          </p:cNvPr>
          <p:cNvSpPr/>
          <p:nvPr/>
        </p:nvSpPr>
        <p:spPr>
          <a:xfrm>
            <a:off x="508000" y="2095500"/>
            <a:ext cx="5397500" cy="762000"/>
          </a:xfrm>
          <a:prstGeom prst="roundRect">
            <a:avLst/>
          </a:prstGeom>
          <a:solidFill>
            <a:srgbClr val="F0F6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061F1-A45F-8D4C-83D8-9D0CF73B8C3B}"/>
              </a:ext>
            </a:extLst>
          </p:cNvPr>
          <p:cNvSpPr txBox="1"/>
          <p:nvPr/>
        </p:nvSpPr>
        <p:spPr>
          <a:xfrm>
            <a:off x="698500" y="2222500"/>
            <a:ext cx="5016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1973EB"/>
                </a:solidFill>
              </a:rPr>
              <a:t>Model Choice = Governance Decision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4E9C8C7-7870-1946-B376-FB85AE9F599F}"/>
              </a:ext>
            </a:extLst>
          </p:cNvPr>
          <p:cNvSpPr/>
          <p:nvPr/>
        </p:nvSpPr>
        <p:spPr>
          <a:xfrm>
            <a:off x="6223000" y="2095500"/>
            <a:ext cx="5397500" cy="762000"/>
          </a:xfrm>
          <a:prstGeom prst="roundRect">
            <a:avLst/>
          </a:prstGeom>
          <a:solidFill>
            <a:srgbClr val="FFF0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235D4-63B6-8A47-B893-9F49A4F01B93}"/>
              </a:ext>
            </a:extLst>
          </p:cNvPr>
          <p:cNvSpPr txBox="1"/>
          <p:nvPr/>
        </p:nvSpPr>
        <p:spPr>
          <a:xfrm>
            <a:off x="6413500" y="2222500"/>
            <a:ext cx="5016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E05555"/>
                </a:solidFill>
              </a:rPr>
              <a:t>Zero Student Data in 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5102AB-3BBD-8443-98D9-32F38833D6F2}"/>
              </a:ext>
            </a:extLst>
          </p:cNvPr>
          <p:cNvSpPr txBox="1"/>
          <p:nvPr/>
        </p:nvSpPr>
        <p:spPr>
          <a:xfrm>
            <a:off x="508000" y="30734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EVALUATION BENCHMARK SUITE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D36BAD-58DA-FC41-AC23-47F04E72BD6A}"/>
              </a:ext>
            </a:extLst>
          </p:cNvPr>
          <p:cNvSpPr/>
          <p:nvPr/>
        </p:nvSpPr>
        <p:spPr>
          <a:xfrm>
            <a:off x="508000" y="3403600"/>
            <a:ext cx="11112500" cy="533400"/>
          </a:xfrm>
          <a:prstGeom prst="roundRect">
            <a:avLst/>
          </a:prstGeom>
          <a:solidFill>
            <a:srgbClr val="F8F8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B50DD9-0E49-2C4A-8499-D63E01EEFF6B}"/>
              </a:ext>
            </a:extLst>
          </p:cNvPr>
          <p:cNvSpPr/>
          <p:nvPr/>
        </p:nvSpPr>
        <p:spPr>
          <a:xfrm>
            <a:off x="698500" y="3556000"/>
            <a:ext cx="228600" cy="228600"/>
          </a:xfrm>
          <a:prstGeom prst="ellipse">
            <a:avLst/>
          </a:prstGeom>
          <a:solidFill>
            <a:srgbClr val="197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013AA-B387-1643-A0CB-4390B181F364}"/>
              </a:ext>
            </a:extLst>
          </p:cNvPr>
          <p:cNvSpPr txBox="1"/>
          <p:nvPr/>
        </p:nvSpPr>
        <p:spPr>
          <a:xfrm>
            <a:off x="1041400" y="35052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Knowledge &amp; Reasoning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DE5C0A-0DBB-1044-A86A-4BA8AA4C68E3}"/>
              </a:ext>
            </a:extLst>
          </p:cNvPr>
          <p:cNvSpPr txBox="1"/>
          <p:nvPr/>
        </p:nvSpPr>
        <p:spPr>
          <a:xfrm>
            <a:off x="6350000" y="35052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888888"/>
                </a:solidFill>
              </a:rPr>
              <a:t>MMLU, GPQA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B5E299A-7691-124A-9613-B136661F1751}"/>
              </a:ext>
            </a:extLst>
          </p:cNvPr>
          <p:cNvSpPr/>
          <p:nvPr/>
        </p:nvSpPr>
        <p:spPr>
          <a:xfrm>
            <a:off x="508000" y="4013200"/>
            <a:ext cx="1111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3FD2556-560B-BE45-9568-D9AFD49FA7D0}"/>
              </a:ext>
            </a:extLst>
          </p:cNvPr>
          <p:cNvSpPr/>
          <p:nvPr/>
        </p:nvSpPr>
        <p:spPr>
          <a:xfrm>
            <a:off x="698500" y="4165600"/>
            <a:ext cx="228600" cy="228600"/>
          </a:xfrm>
          <a:prstGeom prst="ellipse">
            <a:avLst/>
          </a:prstGeom>
          <a:solidFill>
            <a:srgbClr val="25C8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ACC2F4-3637-974A-9504-95253F34F880}"/>
              </a:ext>
            </a:extLst>
          </p:cNvPr>
          <p:cNvSpPr txBox="1"/>
          <p:nvPr/>
        </p:nvSpPr>
        <p:spPr>
          <a:xfrm>
            <a:off x="1041400" y="41148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Factuality &amp; Hallucination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B216ED-B835-6942-9A13-82A2F25A5193}"/>
              </a:ext>
            </a:extLst>
          </p:cNvPr>
          <p:cNvSpPr txBox="1"/>
          <p:nvPr/>
        </p:nvSpPr>
        <p:spPr>
          <a:xfrm>
            <a:off x="6350000" y="41148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888888"/>
                </a:solidFill>
              </a:rPr>
              <a:t>LongFact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CDF754E-C67F-0C4E-9F60-B84B220251B6}"/>
              </a:ext>
            </a:extLst>
          </p:cNvPr>
          <p:cNvSpPr/>
          <p:nvPr/>
        </p:nvSpPr>
        <p:spPr>
          <a:xfrm>
            <a:off x="508000" y="4622800"/>
            <a:ext cx="11112500" cy="533400"/>
          </a:xfrm>
          <a:prstGeom prst="roundRect">
            <a:avLst/>
          </a:prstGeom>
          <a:solidFill>
            <a:srgbClr val="F8F8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0F91474-AEB7-884D-A858-7D04A049C558}"/>
              </a:ext>
            </a:extLst>
          </p:cNvPr>
          <p:cNvSpPr/>
          <p:nvPr/>
        </p:nvSpPr>
        <p:spPr>
          <a:xfrm>
            <a:off x="698500" y="4775200"/>
            <a:ext cx="228600" cy="228600"/>
          </a:xfrm>
          <a:prstGeom prst="ellipse">
            <a:avLst/>
          </a:prstGeom>
          <a:solidFill>
            <a:srgbClr val="FE73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97AD0A-A995-F148-BFC5-5C8663AAF465}"/>
              </a:ext>
            </a:extLst>
          </p:cNvPr>
          <p:cNvSpPr txBox="1"/>
          <p:nvPr/>
        </p:nvSpPr>
        <p:spPr>
          <a:xfrm>
            <a:off x="1041400" y="47244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Instruction Following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52C610-1494-A54B-9E2B-F936A24BE844}"/>
              </a:ext>
            </a:extLst>
          </p:cNvPr>
          <p:cNvSpPr txBox="1"/>
          <p:nvPr/>
        </p:nvSpPr>
        <p:spPr>
          <a:xfrm>
            <a:off x="6350000" y="47244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888888"/>
                </a:solidFill>
              </a:rPr>
              <a:t>IFEval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4802AF9-46B5-E748-ADDE-91E348F64D37}"/>
              </a:ext>
            </a:extLst>
          </p:cNvPr>
          <p:cNvSpPr/>
          <p:nvPr/>
        </p:nvSpPr>
        <p:spPr>
          <a:xfrm>
            <a:off x="508000" y="5232400"/>
            <a:ext cx="1111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0BA8B64-1D71-C04B-A3BC-78FF854189E8}"/>
              </a:ext>
            </a:extLst>
          </p:cNvPr>
          <p:cNvSpPr/>
          <p:nvPr/>
        </p:nvSpPr>
        <p:spPr>
          <a:xfrm>
            <a:off x="698500" y="5384800"/>
            <a:ext cx="228600" cy="228600"/>
          </a:xfrm>
          <a:prstGeom prst="ellipse">
            <a:avLst/>
          </a:prstGeom>
          <a:solidFill>
            <a:srgbClr val="BF8E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2B4C70-DFD1-6944-8DAD-B16BDE17A319}"/>
              </a:ext>
            </a:extLst>
          </p:cNvPr>
          <p:cNvSpPr txBox="1"/>
          <p:nvPr/>
        </p:nvSpPr>
        <p:spPr>
          <a:xfrm>
            <a:off x="1041400" y="53340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Bias, Fairness &amp; Safety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4FE351-C057-934F-85C7-947DD0039277}"/>
              </a:ext>
            </a:extLst>
          </p:cNvPr>
          <p:cNvSpPr txBox="1"/>
          <p:nvPr/>
        </p:nvSpPr>
        <p:spPr>
          <a:xfrm>
            <a:off x="6350000" y="53340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888888"/>
                </a:solidFill>
              </a:rPr>
              <a:t>BBQ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FB4C980-656F-694F-9154-F1A399932A05}"/>
              </a:ext>
            </a:extLst>
          </p:cNvPr>
          <p:cNvSpPr/>
          <p:nvPr/>
        </p:nvSpPr>
        <p:spPr>
          <a:xfrm>
            <a:off x="508000" y="5943600"/>
            <a:ext cx="11112500" cy="457200"/>
          </a:xfrm>
          <a:prstGeom prst="roundRect">
            <a:avLst/>
          </a:prstGeom>
          <a:solidFill>
            <a:srgbClr val="0D1C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E7AAAE-04C3-3F4F-9FF8-E7F79DA7B87F}"/>
              </a:ext>
            </a:extLst>
          </p:cNvPr>
          <p:cNvSpPr txBox="1"/>
          <p:nvPr/>
        </p:nvSpPr>
        <p:spPr>
          <a:xfrm>
            <a:off x="635000" y="5981700"/>
            <a:ext cx="108585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Model versions logged with every inference for audit and drift detection</a:t>
            </a:r>
          </a:p>
        </p:txBody>
      </p:sp>
      <p:pic>
        <p:nvPicPr>
          <p:cNvPr id="27" name="Graphic 27" descr="Governance gear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2184400"/>
            <a:ext cx="304800" cy="304800"/>
          </a:xfrm>
          <a:prstGeom prst="rect">
            <a:avLst/>
          </a:prstGeom>
        </p:spPr>
      </p:pic>
      <p:pic>
        <p:nvPicPr>
          <p:cNvPr id="28" name="Graphic 28" descr="Privacy shiel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21844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414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2ABC-81E5-F038-5D6A-AE67C0733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10890929" cy="508000"/>
          </a:xfrm>
        </p:spPr>
        <p:txBody>
          <a:bodyPr>
            <a:normAutofit/>
          </a:bodyPr>
          <a:lstStyle/>
          <a:p>
            <a:r>
              <a:rPr lang="en-US" sz="2400"/>
              <a:t>Data Governance and Privacy</a:t>
            </a:r>
            <a:endParaRPr lang="en-US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E4285BA-E9B9-8740-9543-ABD5568BC72E}"/>
              </a:ext>
            </a:extLst>
          </p:cNvPr>
          <p:cNvSpPr/>
          <p:nvPr/>
        </p:nvSpPr>
        <p:spPr>
          <a:xfrm>
            <a:off x="508000" y="2032000"/>
            <a:ext cx="11176000" cy="482600"/>
          </a:xfrm>
          <a:prstGeom prst="roundRect">
            <a:avLst/>
          </a:prstGeom>
          <a:solidFill>
            <a:srgbClr val="F0F6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00B74-37F2-C34B-AF95-823DC43613A3}"/>
              </a:ext>
            </a:extLst>
          </p:cNvPr>
          <p:cNvSpPr txBox="1"/>
          <p:nvPr/>
        </p:nvSpPr>
        <p:spPr>
          <a:xfrm>
            <a:off x="698500" y="2070100"/>
            <a:ext cx="10795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973EB"/>
                </a:solidFill>
              </a:rPr>
              <a:t>Data Minimisation as a Foundational Principle — processes only what is strictly necessary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833B0A6-FEB3-094E-9224-3D1E10D97BBF}"/>
              </a:ext>
            </a:extLst>
          </p:cNvPr>
          <p:cNvSpPr/>
          <p:nvPr/>
        </p:nvSpPr>
        <p:spPr>
          <a:xfrm>
            <a:off x="508000" y="2730500"/>
            <a:ext cx="2603500" cy="3048000"/>
          </a:xfrm>
          <a:prstGeom prst="roundRect">
            <a:avLst/>
          </a:prstGeom>
          <a:solidFill>
            <a:srgbClr val="F0F6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C2EFEA-984F-8248-B4CB-C8EDC1393FAC}"/>
              </a:ext>
            </a:extLst>
          </p:cNvPr>
          <p:cNvSpPr/>
          <p:nvPr/>
        </p:nvSpPr>
        <p:spPr>
          <a:xfrm>
            <a:off x="508000" y="2730500"/>
            <a:ext cx="2603500" cy="50800"/>
          </a:xfrm>
          <a:prstGeom prst="rect">
            <a:avLst/>
          </a:prstGeom>
          <a:solidFill>
            <a:srgbClr val="197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D4F40C-1F09-6749-B224-A4B548C62EAA}"/>
              </a:ext>
            </a:extLst>
          </p:cNvPr>
          <p:cNvSpPr txBox="1"/>
          <p:nvPr/>
        </p:nvSpPr>
        <p:spPr>
          <a:xfrm>
            <a:off x="660400" y="3365500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973EB"/>
                </a:solidFill>
              </a:rPr>
              <a:t>STUDENTS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3824B4-94EB-E248-A5A6-7429C176A202}"/>
              </a:ext>
            </a:extLst>
          </p:cNvPr>
          <p:cNvSpPr txBox="1"/>
          <p:nvPr/>
        </p:nvSpPr>
        <p:spPr>
          <a:xfrm>
            <a:off x="660400" y="3746500"/>
            <a:ext cx="2298700" cy="184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• No behavioural profiling
• No sensitive personal data collected
• Data never used for model training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EE80F1B-6EB1-2E42-B8A5-5C3D5426FC3C}"/>
              </a:ext>
            </a:extLst>
          </p:cNvPr>
          <p:cNvSpPr/>
          <p:nvPr/>
        </p:nvSpPr>
        <p:spPr>
          <a:xfrm>
            <a:off x="3263900" y="2730500"/>
            <a:ext cx="2603500" cy="3048000"/>
          </a:xfrm>
          <a:prstGeom prst="roundRect">
            <a:avLst/>
          </a:prstGeom>
          <a:solidFill>
            <a:srgbClr val="E8FB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E18B35-776C-9B45-AE76-17A006FE5962}"/>
              </a:ext>
            </a:extLst>
          </p:cNvPr>
          <p:cNvSpPr/>
          <p:nvPr/>
        </p:nvSpPr>
        <p:spPr>
          <a:xfrm>
            <a:off x="3263900" y="2730500"/>
            <a:ext cx="2603500" cy="50800"/>
          </a:xfrm>
          <a:prstGeom prst="rect">
            <a:avLst/>
          </a:prstGeom>
          <a:solidFill>
            <a:srgbClr val="25C8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6FF66F-DF5E-1F40-B900-ACC6C587F677}"/>
              </a:ext>
            </a:extLst>
          </p:cNvPr>
          <p:cNvSpPr txBox="1"/>
          <p:nvPr/>
        </p:nvSpPr>
        <p:spPr>
          <a:xfrm>
            <a:off x="3416300" y="3365500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25C8A2"/>
                </a:solidFill>
              </a:rPr>
              <a:t>TEACHERS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C3C690-2A2E-6945-BD2B-FD7BEA6FB9F1}"/>
              </a:ext>
            </a:extLst>
          </p:cNvPr>
          <p:cNvSpPr txBox="1"/>
          <p:nvPr/>
        </p:nvSpPr>
        <p:spPr>
          <a:xfrm>
            <a:off x="3416300" y="3746500"/>
            <a:ext cx="2298700" cy="184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• Assessment records teacher-owned
• Rejection data used only for model monitoring
• No personal performance tracking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193153E-7A96-0F44-867B-9270886CDA10}"/>
              </a:ext>
            </a:extLst>
          </p:cNvPr>
          <p:cNvSpPr/>
          <p:nvPr/>
        </p:nvSpPr>
        <p:spPr>
          <a:xfrm>
            <a:off x="6019800" y="2730500"/>
            <a:ext cx="2603500" cy="3048000"/>
          </a:xfrm>
          <a:prstGeom prst="roundRect">
            <a:avLst/>
          </a:prstGeom>
          <a:solidFill>
            <a:srgbClr val="FFF3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982DF4-F228-8D4E-B68F-8284D16731D2}"/>
              </a:ext>
            </a:extLst>
          </p:cNvPr>
          <p:cNvSpPr/>
          <p:nvPr/>
        </p:nvSpPr>
        <p:spPr>
          <a:xfrm>
            <a:off x="6019800" y="2730500"/>
            <a:ext cx="2603500" cy="50800"/>
          </a:xfrm>
          <a:prstGeom prst="rect">
            <a:avLst/>
          </a:prstGeom>
          <a:solidFill>
            <a:srgbClr val="FE73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473962-4E5E-F642-8F1F-E1156CF78645}"/>
              </a:ext>
            </a:extLst>
          </p:cNvPr>
          <p:cNvSpPr txBox="1"/>
          <p:nvPr/>
        </p:nvSpPr>
        <p:spPr>
          <a:xfrm>
            <a:off x="6172200" y="3365500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E733C"/>
                </a:solidFill>
              </a:rPr>
              <a:t>PUBLISHERS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E10208-ED85-E940-B44F-0E6092BD9772}"/>
              </a:ext>
            </a:extLst>
          </p:cNvPr>
          <p:cNvSpPr txBox="1"/>
          <p:nvPr/>
        </p:nvSpPr>
        <p:spPr>
          <a:xfrm>
            <a:off x="6172200" y="3746500"/>
            <a:ext cx="2298700" cy="184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• Explicit licensing agreements
• Controlled storage and processing
• No unauthorised derivative use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F449C35-DD8F-3642-BAB4-86EE2FECF1A0}"/>
              </a:ext>
            </a:extLst>
          </p:cNvPr>
          <p:cNvSpPr/>
          <p:nvPr/>
        </p:nvSpPr>
        <p:spPr>
          <a:xfrm>
            <a:off x="8775700" y="2730500"/>
            <a:ext cx="2603500" cy="3048000"/>
          </a:xfrm>
          <a:prstGeom prst="roundRect">
            <a:avLst/>
          </a:prstGeom>
          <a:solidFill>
            <a:srgbClr val="F5EE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3F406D-FE1E-AF43-BB39-B63ED6C37306}"/>
              </a:ext>
            </a:extLst>
          </p:cNvPr>
          <p:cNvSpPr/>
          <p:nvPr/>
        </p:nvSpPr>
        <p:spPr>
          <a:xfrm>
            <a:off x="8775700" y="2730500"/>
            <a:ext cx="2603500" cy="50800"/>
          </a:xfrm>
          <a:prstGeom prst="rect">
            <a:avLst/>
          </a:prstGeom>
          <a:solidFill>
            <a:srgbClr val="BF8E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E2B9BD-FDEE-154A-BE29-4E5BC31CFC6F}"/>
              </a:ext>
            </a:extLst>
          </p:cNvPr>
          <p:cNvSpPr txBox="1"/>
          <p:nvPr/>
        </p:nvSpPr>
        <p:spPr>
          <a:xfrm>
            <a:off x="8928100" y="3365500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BF8ED1"/>
                </a:solidFill>
              </a:rPr>
              <a:t>INSTITUTIONS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A5D349-E336-234B-B63A-739C439EA39B}"/>
              </a:ext>
            </a:extLst>
          </p:cNvPr>
          <p:cNvSpPr txBox="1"/>
          <p:nvPr/>
        </p:nvSpPr>
        <p:spPr>
          <a:xfrm>
            <a:off x="8928100" y="3746500"/>
            <a:ext cx="2298700" cy="184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• DPIA-aligned retention limits
• Full audit trail access
• Compliant data processing agreements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90556D9-5084-3C40-A00A-4FBBD7A55F03}"/>
              </a:ext>
            </a:extLst>
          </p:cNvPr>
          <p:cNvSpPr/>
          <p:nvPr/>
        </p:nvSpPr>
        <p:spPr>
          <a:xfrm>
            <a:off x="508000" y="5994400"/>
            <a:ext cx="11176000" cy="457200"/>
          </a:xfrm>
          <a:prstGeom prst="roundRect">
            <a:avLst/>
          </a:prstGeom>
          <a:solidFill>
            <a:srgbClr val="0D1C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F4E9E8-0058-2F40-B6D4-EF8EFCB084E4}"/>
              </a:ext>
            </a:extLst>
          </p:cNvPr>
          <p:cNvSpPr txBox="1"/>
          <p:nvPr/>
        </p:nvSpPr>
        <p:spPr>
          <a:xfrm>
            <a:off x="635000" y="60325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Every stakeholder has specific, tailored protections built into the architecture</a:t>
            </a:r>
          </a:p>
        </p:txBody>
      </p:sp>
      <p:pic>
        <p:nvPicPr>
          <p:cNvPr id="24" name="Graphic 24" descr="Studen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" y="2857500"/>
            <a:ext cx="406400" cy="406400"/>
          </a:xfrm>
          <a:prstGeom prst="rect">
            <a:avLst/>
          </a:prstGeom>
        </p:spPr>
      </p:pic>
      <p:pic>
        <p:nvPicPr>
          <p:cNvPr id="25" name="Graphic 25" descr="Teach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9900" y="2857500"/>
            <a:ext cx="406400" cy="406400"/>
          </a:xfrm>
          <a:prstGeom prst="rect">
            <a:avLst/>
          </a:prstGeom>
        </p:spPr>
      </p:pic>
      <p:pic>
        <p:nvPicPr>
          <p:cNvPr id="26" name="Graphic 26" descr="Publisher book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5800" y="2857500"/>
            <a:ext cx="406400" cy="406400"/>
          </a:xfrm>
          <a:prstGeom prst="rect">
            <a:avLst/>
          </a:prstGeom>
        </p:spPr>
      </p:pic>
      <p:pic>
        <p:nvPicPr>
          <p:cNvPr id="27" name="Graphic 27" descr="Institution build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91700" y="28575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86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759A-B301-34CB-458A-ECF4BBF37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10890929" cy="508000"/>
          </a:xfrm>
        </p:spPr>
        <p:txBody>
          <a:bodyPr>
            <a:normAutofit/>
          </a:bodyPr>
          <a:lstStyle/>
          <a:p>
            <a:r>
              <a:rPr lang="en-US" sz="2200"/>
              <a:t>Post-Market Monitoring &amp; Continuous Assurance</a:t>
            </a: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B6470-350E-7D43-A1DF-8709FE340929}"/>
              </a:ext>
            </a:extLst>
          </p:cNvPr>
          <p:cNvSpPr txBox="1"/>
          <p:nvPr/>
        </p:nvSpPr>
        <p:spPr>
          <a:xfrm>
            <a:off x="4826000" y="3683000"/>
            <a:ext cx="254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D1C3B"/>
                </a:solidFill>
              </a:rPr>
              <a:t>CONTINUOUS
ASSURANCE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CCA0D9-2CDF-A745-82B7-6B99A49F1576}"/>
              </a:ext>
            </a:extLst>
          </p:cNvPr>
          <p:cNvSpPr/>
          <p:nvPr/>
        </p:nvSpPr>
        <p:spPr>
          <a:xfrm>
            <a:off x="1270000" y="2159000"/>
            <a:ext cx="3048000" cy="1651000"/>
          </a:xfrm>
          <a:prstGeom prst="roundRect">
            <a:avLst/>
          </a:prstGeom>
          <a:solidFill>
            <a:srgbClr val="F0F6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738B12-4896-FF45-805A-C3107596133F}"/>
              </a:ext>
            </a:extLst>
          </p:cNvPr>
          <p:cNvSpPr/>
          <p:nvPr/>
        </p:nvSpPr>
        <p:spPr>
          <a:xfrm>
            <a:off x="1270000" y="2159000"/>
            <a:ext cx="3048000" cy="50800"/>
          </a:xfrm>
          <a:prstGeom prst="rect">
            <a:avLst/>
          </a:prstGeom>
          <a:solidFill>
            <a:srgbClr val="197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141B8-45E0-2F43-BBE4-E720983DDBF0}"/>
              </a:ext>
            </a:extLst>
          </p:cNvPr>
          <p:cNvSpPr txBox="1"/>
          <p:nvPr/>
        </p:nvSpPr>
        <p:spPr>
          <a:xfrm>
            <a:off x="1422400" y="2311400"/>
            <a:ext cx="274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973EB"/>
                </a:solidFill>
              </a:rPr>
              <a:t>DEPLOY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3DAB9-E3B0-A043-A383-9ADAA84DB350}"/>
              </a:ext>
            </a:extLst>
          </p:cNvPr>
          <p:cNvSpPr txBox="1"/>
          <p:nvPr/>
        </p:nvSpPr>
        <p:spPr>
          <a:xfrm>
            <a:off x="1422400" y="2692400"/>
            <a:ext cx="2743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Model versioned and registered in EU high-risk AI database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44FE26-5070-C848-B778-9FCD1E0B9002}"/>
              </a:ext>
            </a:extLst>
          </p:cNvPr>
          <p:cNvSpPr/>
          <p:nvPr/>
        </p:nvSpPr>
        <p:spPr>
          <a:xfrm>
            <a:off x="7874000" y="2159000"/>
            <a:ext cx="3048000" cy="1651000"/>
          </a:xfrm>
          <a:prstGeom prst="roundRect">
            <a:avLst/>
          </a:prstGeom>
          <a:solidFill>
            <a:srgbClr val="E8FB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2EB4D0-70F3-0F47-88D6-45D8A527C944}"/>
              </a:ext>
            </a:extLst>
          </p:cNvPr>
          <p:cNvSpPr/>
          <p:nvPr/>
        </p:nvSpPr>
        <p:spPr>
          <a:xfrm>
            <a:off x="7874000" y="2159000"/>
            <a:ext cx="3048000" cy="50800"/>
          </a:xfrm>
          <a:prstGeom prst="rect">
            <a:avLst/>
          </a:prstGeom>
          <a:solidFill>
            <a:srgbClr val="25C8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AD01D-8261-414D-9800-EABE70A32783}"/>
              </a:ext>
            </a:extLst>
          </p:cNvPr>
          <p:cNvSpPr txBox="1"/>
          <p:nvPr/>
        </p:nvSpPr>
        <p:spPr>
          <a:xfrm>
            <a:off x="8026400" y="2311400"/>
            <a:ext cx="274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25C8A2"/>
                </a:solidFill>
              </a:rPr>
              <a:t>MONITOR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D57A47-8AFA-324E-9E75-6A8D7950C5C0}"/>
              </a:ext>
            </a:extLst>
          </p:cNvPr>
          <p:cNvSpPr txBox="1"/>
          <p:nvPr/>
        </p:nvSpPr>
        <p:spPr>
          <a:xfrm>
            <a:off x="8026400" y="2692400"/>
            <a:ext cx="2743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Regular benchmark re-evaluation to detect drift and degradation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0121F9E-CF80-3B42-88E1-31073142254F}"/>
              </a:ext>
            </a:extLst>
          </p:cNvPr>
          <p:cNvSpPr/>
          <p:nvPr/>
        </p:nvSpPr>
        <p:spPr>
          <a:xfrm>
            <a:off x="7874000" y="4445000"/>
            <a:ext cx="3048000" cy="1651000"/>
          </a:xfrm>
          <a:prstGeom prst="roundRect">
            <a:avLst/>
          </a:prstGeom>
          <a:solidFill>
            <a:srgbClr val="FFF3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A9F30E-24A2-E14E-A4EB-9AFEEC8CAAC7}"/>
              </a:ext>
            </a:extLst>
          </p:cNvPr>
          <p:cNvSpPr/>
          <p:nvPr/>
        </p:nvSpPr>
        <p:spPr>
          <a:xfrm>
            <a:off x="7874000" y="4445000"/>
            <a:ext cx="3048000" cy="50800"/>
          </a:xfrm>
          <a:prstGeom prst="rect">
            <a:avLst/>
          </a:prstGeom>
          <a:solidFill>
            <a:srgbClr val="FE73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BC81BD-71DC-2D46-BA11-D32B8530F14E}"/>
              </a:ext>
            </a:extLst>
          </p:cNvPr>
          <p:cNvSpPr txBox="1"/>
          <p:nvPr/>
        </p:nvSpPr>
        <p:spPr>
          <a:xfrm>
            <a:off x="8026400" y="4597400"/>
            <a:ext cx="274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E733C"/>
                </a:solidFill>
              </a:rPr>
              <a:t>FLAG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EBADD3-0CC6-1549-9CE3-45A46267B77C}"/>
              </a:ext>
            </a:extLst>
          </p:cNvPr>
          <p:cNvSpPr txBox="1"/>
          <p:nvPr/>
        </p:nvSpPr>
        <p:spPr>
          <a:xfrm>
            <a:off x="8026400" y="4978400"/>
            <a:ext cx="2743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Anomaly detection + teacher reporting channels for harmful outputs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90D697F-A854-504B-915D-5B63D954EA18}"/>
              </a:ext>
            </a:extLst>
          </p:cNvPr>
          <p:cNvSpPr/>
          <p:nvPr/>
        </p:nvSpPr>
        <p:spPr>
          <a:xfrm>
            <a:off x="1270000" y="4445000"/>
            <a:ext cx="3048000" cy="1651000"/>
          </a:xfrm>
          <a:prstGeom prst="roundRect">
            <a:avLst/>
          </a:prstGeom>
          <a:solidFill>
            <a:srgbClr val="F5EE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14905-341E-6449-A713-AFA1E0E45458}"/>
              </a:ext>
            </a:extLst>
          </p:cNvPr>
          <p:cNvSpPr/>
          <p:nvPr/>
        </p:nvSpPr>
        <p:spPr>
          <a:xfrm>
            <a:off x="1270000" y="4445000"/>
            <a:ext cx="3048000" cy="50800"/>
          </a:xfrm>
          <a:prstGeom prst="rect">
            <a:avLst/>
          </a:prstGeom>
          <a:solidFill>
            <a:srgbClr val="BF8E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4D588E-F005-0344-AC6D-5BCAE5F0FE16}"/>
              </a:ext>
            </a:extLst>
          </p:cNvPr>
          <p:cNvSpPr txBox="1"/>
          <p:nvPr/>
        </p:nvSpPr>
        <p:spPr>
          <a:xfrm>
            <a:off x="1422400" y="4597400"/>
            <a:ext cx="274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BF8ED1"/>
                </a:solidFill>
              </a:rPr>
              <a:t>IMPROVE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AF4B7C-993C-0540-8349-E0B0F12D40EA}"/>
              </a:ext>
            </a:extLst>
          </p:cNvPr>
          <p:cNvSpPr txBox="1"/>
          <p:nvPr/>
        </p:nvSpPr>
        <p:spPr>
          <a:xfrm>
            <a:off x="1422400" y="4978400"/>
            <a:ext cx="2743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Version updates, model swaps, and process refinements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B2D6373A-07CA-DC40-988E-B57B9E385A0B}"/>
              </a:ext>
            </a:extLst>
          </p:cNvPr>
          <p:cNvSpPr/>
          <p:nvPr/>
        </p:nvSpPr>
        <p:spPr>
          <a:xfrm>
            <a:off x="4419600" y="2794000"/>
            <a:ext cx="3352800" cy="2032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90212257-3A99-9F4E-BC2D-C16092855328}"/>
              </a:ext>
            </a:extLst>
          </p:cNvPr>
          <p:cNvSpPr/>
          <p:nvPr/>
        </p:nvSpPr>
        <p:spPr>
          <a:xfrm>
            <a:off x="9296400" y="3911600"/>
            <a:ext cx="203200" cy="431800"/>
          </a:xfrm>
          <a:prstGeom prst="down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Left Arrow 22">
            <a:extLst>
              <a:ext uri="{FF2B5EF4-FFF2-40B4-BE49-F238E27FC236}">
                <a16:creationId xmlns:a16="http://schemas.microsoft.com/office/drawing/2014/main" id="{588FBF90-FC05-8A46-B7D4-59F4647FD36A}"/>
              </a:ext>
            </a:extLst>
          </p:cNvPr>
          <p:cNvSpPr/>
          <p:nvPr/>
        </p:nvSpPr>
        <p:spPr>
          <a:xfrm>
            <a:off x="4419600" y="5080000"/>
            <a:ext cx="3352800" cy="203200"/>
          </a:xfrm>
          <a:prstGeom prst="lef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Up Arrow 23">
            <a:extLst>
              <a:ext uri="{FF2B5EF4-FFF2-40B4-BE49-F238E27FC236}">
                <a16:creationId xmlns:a16="http://schemas.microsoft.com/office/drawing/2014/main" id="{0824D673-FCDF-C348-A745-9FCE131CE6A7}"/>
              </a:ext>
            </a:extLst>
          </p:cNvPr>
          <p:cNvSpPr/>
          <p:nvPr/>
        </p:nvSpPr>
        <p:spPr>
          <a:xfrm>
            <a:off x="2692400" y="3911600"/>
            <a:ext cx="203200" cy="431800"/>
          </a:xfrm>
          <a:prstGeom prst="up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98DA2A6-AA7B-7F42-A31F-3B7AB178636E}"/>
              </a:ext>
            </a:extLst>
          </p:cNvPr>
          <p:cNvSpPr/>
          <p:nvPr/>
        </p:nvSpPr>
        <p:spPr>
          <a:xfrm>
            <a:off x="508000" y="6324600"/>
            <a:ext cx="11176000" cy="431800"/>
          </a:xfrm>
          <a:prstGeom prst="roundRect">
            <a:avLst/>
          </a:prstGeom>
          <a:solidFill>
            <a:srgbClr val="0D1C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44B692-30F7-7A45-BED4-61A18C38D456}"/>
              </a:ext>
            </a:extLst>
          </p:cNvPr>
          <p:cNvSpPr txBox="1"/>
          <p:nvPr/>
        </p:nvSpPr>
        <p:spPr>
          <a:xfrm>
            <a:off x="635000" y="6350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Compliance does not end at deployment — post-market monitoring is a legal obligation</a:t>
            </a:r>
          </a:p>
        </p:txBody>
      </p:sp>
      <p:pic>
        <p:nvPicPr>
          <p:cNvPr id="27" name="Graphic 27" descr="Deploy rocke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0" y="2260600"/>
            <a:ext cx="355600" cy="355600"/>
          </a:xfrm>
          <a:prstGeom prst="rect">
            <a:avLst/>
          </a:prstGeom>
        </p:spPr>
      </p:pic>
      <p:pic>
        <p:nvPicPr>
          <p:cNvPr id="28" name="Graphic 28" descr="Monitor ey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0" y="2260600"/>
            <a:ext cx="355600" cy="355600"/>
          </a:xfrm>
          <a:prstGeom prst="rect">
            <a:avLst/>
          </a:prstGeom>
        </p:spPr>
      </p:pic>
      <p:pic>
        <p:nvPicPr>
          <p:cNvPr id="29" name="Graphic 29" descr="Flag shiel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14000" y="4546600"/>
            <a:ext cx="355600" cy="355600"/>
          </a:xfrm>
          <a:prstGeom prst="rect">
            <a:avLst/>
          </a:prstGeom>
        </p:spPr>
      </p:pic>
      <p:pic>
        <p:nvPicPr>
          <p:cNvPr id="30" name="Graphic 30" descr="Improve gear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0" y="4546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077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2587E-2626-78FE-BD41-4DAB55E5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10890929" cy="508000"/>
          </a:xfrm>
        </p:spPr>
        <p:txBody>
          <a:bodyPr>
            <a:normAutofit/>
          </a:bodyPr>
          <a:lstStyle/>
          <a:p>
            <a:r>
              <a:rPr lang="en-US" sz="2400"/>
              <a:t>Why Compliance is the Moat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C63D1-F10C-D649-9320-38EB3BB95A16}"/>
              </a:ext>
            </a:extLst>
          </p:cNvPr>
          <p:cNvSpPr txBox="1"/>
          <p:nvPr/>
        </p:nvSpPr>
        <p:spPr>
          <a:xfrm>
            <a:off x="635000" y="1930400"/>
            <a:ext cx="1092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666666"/>
                </a:solidFill>
              </a:rPr>
              <a:t>Most competitors treat regulation as friction — Diotima treats it as infrastructure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C1D7A69-6E80-B543-8D50-57101D3FF2D8}"/>
              </a:ext>
            </a:extLst>
          </p:cNvPr>
          <p:cNvSpPr/>
          <p:nvPr/>
        </p:nvSpPr>
        <p:spPr>
          <a:xfrm>
            <a:off x="508000" y="2476500"/>
            <a:ext cx="11176000" cy="1270000"/>
          </a:xfrm>
          <a:prstGeom prst="roundRect">
            <a:avLst/>
          </a:prstGeom>
          <a:solidFill>
            <a:srgbClr val="F0F6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210BC-3292-264A-AE8A-312D9FE442B7}"/>
              </a:ext>
            </a:extLst>
          </p:cNvPr>
          <p:cNvSpPr/>
          <p:nvPr/>
        </p:nvSpPr>
        <p:spPr>
          <a:xfrm>
            <a:off x="508000" y="2476500"/>
            <a:ext cx="63500" cy="1270000"/>
          </a:xfrm>
          <a:prstGeom prst="rect">
            <a:avLst/>
          </a:prstGeom>
          <a:solidFill>
            <a:srgbClr val="197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BA749-33BD-594E-AEF9-31D9BEC95CD3}"/>
              </a:ext>
            </a:extLst>
          </p:cNvPr>
          <p:cNvSpPr txBox="1"/>
          <p:nvPr/>
        </p:nvSpPr>
        <p:spPr>
          <a:xfrm>
            <a:off x="762000" y="25781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973EB"/>
                </a:solidFill>
              </a:rPr>
              <a:t>STRATEGIC ADVANTAGE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C00C9-C6E3-1F41-B4B4-7F29C19D150C}"/>
              </a:ext>
            </a:extLst>
          </p:cNvPr>
          <p:cNvSpPr txBox="1"/>
          <p:nvPr/>
        </p:nvSpPr>
        <p:spPr>
          <a:xfrm>
            <a:off x="762000" y="28829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Market Exclusion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C66514-2136-1947-AB80-BAAD5954E5D1}"/>
              </a:ext>
            </a:extLst>
          </p:cNvPr>
          <p:cNvSpPr txBox="1"/>
          <p:nvPr/>
        </p:nvSpPr>
        <p:spPr>
          <a:xfrm>
            <a:off x="762000" y="31369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The EU AI Act will progressively exclude products not built to meet 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F0C00A-0BBF-6B4E-9A02-DB81C8B6DC39}"/>
              </a:ext>
            </a:extLst>
          </p:cNvPr>
          <p:cNvSpPr txBox="1"/>
          <p:nvPr/>
        </p:nvSpPr>
        <p:spPr>
          <a:xfrm>
            <a:off x="6223000" y="28829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Regulated Market Access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3F499E-02FC-3644-9A29-33FB76C9826A}"/>
              </a:ext>
            </a:extLst>
          </p:cNvPr>
          <p:cNvSpPr txBox="1"/>
          <p:nvPr/>
        </p:nvSpPr>
        <p:spPr>
          <a:xfrm>
            <a:off x="6223000" y="31369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Opens access to markets that non-compliant products cannot legally serve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58E4D6A-DF50-794D-9D93-F9839AA5C808}"/>
              </a:ext>
            </a:extLst>
          </p:cNvPr>
          <p:cNvSpPr/>
          <p:nvPr/>
        </p:nvSpPr>
        <p:spPr>
          <a:xfrm>
            <a:off x="508000" y="3937000"/>
            <a:ext cx="11176000" cy="1270000"/>
          </a:xfrm>
          <a:prstGeom prst="roundRect">
            <a:avLst/>
          </a:prstGeom>
          <a:solidFill>
            <a:srgbClr val="E8FB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6EF104-CECC-5040-9E39-2E7DA93EFA1C}"/>
              </a:ext>
            </a:extLst>
          </p:cNvPr>
          <p:cNvSpPr/>
          <p:nvPr/>
        </p:nvSpPr>
        <p:spPr>
          <a:xfrm>
            <a:off x="508000" y="3937000"/>
            <a:ext cx="63500" cy="1270000"/>
          </a:xfrm>
          <a:prstGeom prst="rect">
            <a:avLst/>
          </a:prstGeom>
          <a:solidFill>
            <a:srgbClr val="25C8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852662-ED04-E54B-98E3-AEC770FA8B98}"/>
              </a:ext>
            </a:extLst>
          </p:cNvPr>
          <p:cNvSpPr txBox="1"/>
          <p:nvPr/>
        </p:nvSpPr>
        <p:spPr>
          <a:xfrm>
            <a:off x="762000" y="40386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25C8A2"/>
                </a:solidFill>
              </a:rPr>
              <a:t>INSTITUTIONAL VALUE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91DD8E-82A2-FC45-81E4-FEEB0574A9DE}"/>
              </a:ext>
            </a:extLst>
          </p:cNvPr>
          <p:cNvSpPr txBox="1"/>
          <p:nvPr/>
        </p:nvSpPr>
        <p:spPr>
          <a:xfrm>
            <a:off x="762000" y="4343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Verifiable Trustworthiness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50532A-B5CD-8149-A5F5-A53AE090DE74}"/>
              </a:ext>
            </a:extLst>
          </p:cNvPr>
          <p:cNvSpPr txBox="1"/>
          <p:nvPr/>
        </p:nvSpPr>
        <p:spPr>
          <a:xfrm>
            <a:off x="762000" y="45974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Embedded compliance achieves genuine trust that institutions can verify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AADFFE-5BF0-BA48-B95A-BF7ECD2AE153}"/>
              </a:ext>
            </a:extLst>
          </p:cNvPr>
          <p:cNvSpPr txBox="1"/>
          <p:nvPr/>
        </p:nvSpPr>
        <p:spPr>
          <a:xfrm>
            <a:off x="6223000" y="4343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Adoption Without Anxiety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D0E69B-2B7B-764F-B8E6-FF9DFB7B3695}"/>
              </a:ext>
            </a:extLst>
          </p:cNvPr>
          <p:cNvSpPr txBox="1"/>
          <p:nvPr/>
        </p:nvSpPr>
        <p:spPr>
          <a:xfrm>
            <a:off x="6223000" y="45974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Institutions adopt AI feedback without regulatory risk or uncertainty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2208130-1075-B147-B9FB-10D73560939E}"/>
              </a:ext>
            </a:extLst>
          </p:cNvPr>
          <p:cNvSpPr/>
          <p:nvPr/>
        </p:nvSpPr>
        <p:spPr>
          <a:xfrm>
            <a:off x="508000" y="5397500"/>
            <a:ext cx="11176000" cy="1270000"/>
          </a:xfrm>
          <a:prstGeom prst="roundRect">
            <a:avLst/>
          </a:prstGeom>
          <a:solidFill>
            <a:srgbClr val="FFF3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E48E96-3722-8C40-AA59-C322D0CD4707}"/>
              </a:ext>
            </a:extLst>
          </p:cNvPr>
          <p:cNvSpPr/>
          <p:nvPr/>
        </p:nvSpPr>
        <p:spPr>
          <a:xfrm>
            <a:off x="508000" y="5397500"/>
            <a:ext cx="63500" cy="1270000"/>
          </a:xfrm>
          <a:prstGeom prst="rect">
            <a:avLst/>
          </a:prstGeom>
          <a:solidFill>
            <a:srgbClr val="FE73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E4ACE1-CF29-B248-BF6B-C27B5A9C4D03}"/>
              </a:ext>
            </a:extLst>
          </p:cNvPr>
          <p:cNvSpPr txBox="1"/>
          <p:nvPr/>
        </p:nvSpPr>
        <p:spPr>
          <a:xfrm>
            <a:off x="762000" y="54991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E733C"/>
                </a:solidFill>
              </a:rPr>
              <a:t>HUMAN IMPACT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807CB9-2E7C-564F-B2B9-88F772484532}"/>
              </a:ext>
            </a:extLst>
          </p:cNvPr>
          <p:cNvSpPr txBox="1"/>
          <p:nvPr/>
        </p:nvSpPr>
        <p:spPr>
          <a:xfrm>
            <a:off x="762000" y="58039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Teacher Authority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2B9A4D-A50B-1C4A-90F1-E1B7E824E770}"/>
              </a:ext>
            </a:extLst>
          </p:cNvPr>
          <p:cNvSpPr txBox="1"/>
          <p:nvPr/>
        </p:nvSpPr>
        <p:spPr>
          <a:xfrm>
            <a:off x="762000" y="60579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Teachers retain full professional authority over assessment decisions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5EC444-9BB2-4A46-999C-E47215846EDF}"/>
              </a:ext>
            </a:extLst>
          </p:cNvPr>
          <p:cNvSpPr txBox="1"/>
          <p:nvPr/>
        </p:nvSpPr>
        <p:spPr>
          <a:xfrm>
            <a:off x="6223000" y="58039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0D1C3B"/>
                </a:solidFill>
              </a:rPr>
              <a:t>Learner Safety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983AD9-B2D3-1D4B-BCDA-5FE4CA262F8D}"/>
              </a:ext>
            </a:extLst>
          </p:cNvPr>
          <p:cNvSpPr txBox="1"/>
          <p:nvPr/>
        </p:nvSpPr>
        <p:spPr>
          <a:xfrm>
            <a:off x="6223000" y="60579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Students benefit from safer, higher-quality AI-assisted feedback</a:t>
            </a:r>
          </a:p>
        </p:txBody>
      </p:sp>
      <p:pic>
        <p:nvPicPr>
          <p:cNvPr id="27" name="Graphic 27" descr="Strategic advantag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6000" y="2540000"/>
            <a:ext cx="304800" cy="304800"/>
          </a:xfrm>
          <a:prstGeom prst="rect">
            <a:avLst/>
          </a:prstGeom>
        </p:spPr>
      </p:pic>
      <p:pic>
        <p:nvPicPr>
          <p:cNvPr id="28" name="Graphic 28" descr="Institution build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0" y="4000500"/>
            <a:ext cx="304800" cy="304800"/>
          </a:xfrm>
          <a:prstGeom prst="rect">
            <a:avLst/>
          </a:prstGeom>
        </p:spPr>
      </p:pic>
      <p:pic>
        <p:nvPicPr>
          <p:cNvPr id="29" name="Graphic 29" descr="Human impact peop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0" y="5461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24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E0CEB-EFE8-403F-0AA0-772969577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10890929" cy="508000"/>
          </a:xfrm>
        </p:spPr>
        <p:txBody>
          <a:bodyPr>
            <a:normAutofit/>
          </a:bodyPr>
          <a:lstStyle/>
          <a:p>
            <a:r>
              <a:rPr lang="en-US" sz="2400"/>
              <a:t>Conclusion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22EE6-8E23-4B4A-B70B-39884CB0ABC2}"/>
              </a:ext>
            </a:extLst>
          </p:cNvPr>
          <p:cNvSpPr txBox="1"/>
          <p:nvPr/>
        </p:nvSpPr>
        <p:spPr>
          <a:xfrm>
            <a:off x="762000" y="20955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1973EB"/>
                </a:solidFill>
              </a:rPr>
              <a:t>High-risk AI in education does not have to mean unsafe AI.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3F7DE-1011-FC4F-9D3F-D0C10938E57B}"/>
              </a:ext>
            </a:extLst>
          </p:cNvPr>
          <p:cNvSpPr txBox="1"/>
          <p:nvPr/>
        </p:nvSpPr>
        <p:spPr>
          <a:xfrm>
            <a:off x="762000" y="27940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444444"/>
                </a:solidFill>
              </a:rPr>
              <a:t>The question is not whether to engage with AI in education — it is whether to engage on terms that are educationally sound, technically robust, and legally defensible.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0052DCD-750A-FE4A-8E99-6069CA018DB5}"/>
              </a:ext>
            </a:extLst>
          </p:cNvPr>
          <p:cNvSpPr/>
          <p:nvPr/>
        </p:nvSpPr>
        <p:spPr>
          <a:xfrm>
            <a:off x="635000" y="3619500"/>
            <a:ext cx="3556000" cy="1524000"/>
          </a:xfrm>
          <a:prstGeom prst="roundRect">
            <a:avLst/>
          </a:prstGeom>
          <a:solidFill>
            <a:srgbClr val="F0F6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C9C638-9D89-E943-B326-EB518D25B297}"/>
              </a:ext>
            </a:extLst>
          </p:cNvPr>
          <p:cNvSpPr/>
          <p:nvPr/>
        </p:nvSpPr>
        <p:spPr>
          <a:xfrm>
            <a:off x="635000" y="3619500"/>
            <a:ext cx="3556000" cy="50800"/>
          </a:xfrm>
          <a:prstGeom prst="rect">
            <a:avLst/>
          </a:prstGeom>
          <a:solidFill>
            <a:srgbClr val="197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A1A433-808D-8D48-9DC4-0BC4132EACCC}"/>
              </a:ext>
            </a:extLst>
          </p:cNvPr>
          <p:cNvSpPr txBox="1"/>
          <p:nvPr/>
        </p:nvSpPr>
        <p:spPr>
          <a:xfrm>
            <a:off x="825500" y="37973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973EB"/>
                </a:solidFill>
              </a:rPr>
              <a:t>Educationally Sound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D8D5EB-90A4-E245-A489-843A0240BB17}"/>
              </a:ext>
            </a:extLst>
          </p:cNvPr>
          <p:cNvSpPr txBox="1"/>
          <p:nvPr/>
        </p:nvSpPr>
        <p:spPr>
          <a:xfrm>
            <a:off x="825500" y="4152900"/>
            <a:ext cx="31750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Teachers retain authority. Students get safer, higher-quality feedback.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7909665-CC46-1240-A186-095008F20A14}"/>
              </a:ext>
            </a:extLst>
          </p:cNvPr>
          <p:cNvSpPr/>
          <p:nvPr/>
        </p:nvSpPr>
        <p:spPr>
          <a:xfrm>
            <a:off x="4318000" y="3619500"/>
            <a:ext cx="3556000" cy="1524000"/>
          </a:xfrm>
          <a:prstGeom prst="roundRect">
            <a:avLst/>
          </a:prstGeom>
          <a:solidFill>
            <a:srgbClr val="E8FB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3224CD-3ABC-D949-BEB6-B2CACADC2F74}"/>
              </a:ext>
            </a:extLst>
          </p:cNvPr>
          <p:cNvSpPr/>
          <p:nvPr/>
        </p:nvSpPr>
        <p:spPr>
          <a:xfrm>
            <a:off x="4318000" y="3619500"/>
            <a:ext cx="3556000" cy="50800"/>
          </a:xfrm>
          <a:prstGeom prst="rect">
            <a:avLst/>
          </a:prstGeom>
          <a:solidFill>
            <a:srgbClr val="25C8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A3C664-5937-B74C-89FF-D35CED9F8C3C}"/>
              </a:ext>
            </a:extLst>
          </p:cNvPr>
          <p:cNvSpPr txBox="1"/>
          <p:nvPr/>
        </p:nvSpPr>
        <p:spPr>
          <a:xfrm>
            <a:off x="4508500" y="37973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25C8A2"/>
                </a:solidFill>
              </a:rPr>
              <a:t>Technically Robust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0EE056-AE62-1B40-89F9-60ED16E45DF1}"/>
              </a:ext>
            </a:extLst>
          </p:cNvPr>
          <p:cNvSpPr txBox="1"/>
          <p:nvPr/>
        </p:nvSpPr>
        <p:spPr>
          <a:xfrm>
            <a:off x="4508500" y="4152900"/>
            <a:ext cx="31750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Compliance embedded in the architecture, not bolted on as an afterthought.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3CE217-EF1A-064E-B832-F104C9B798E7}"/>
              </a:ext>
            </a:extLst>
          </p:cNvPr>
          <p:cNvSpPr/>
          <p:nvPr/>
        </p:nvSpPr>
        <p:spPr>
          <a:xfrm>
            <a:off x="8001000" y="3619500"/>
            <a:ext cx="3556000" cy="1524000"/>
          </a:xfrm>
          <a:prstGeom prst="roundRect">
            <a:avLst/>
          </a:prstGeom>
          <a:solidFill>
            <a:srgbClr val="FFF3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8B891D-17B7-A049-B5FC-275A9CC0CB6E}"/>
              </a:ext>
            </a:extLst>
          </p:cNvPr>
          <p:cNvSpPr/>
          <p:nvPr/>
        </p:nvSpPr>
        <p:spPr>
          <a:xfrm>
            <a:off x="8001000" y="3619500"/>
            <a:ext cx="3556000" cy="50800"/>
          </a:xfrm>
          <a:prstGeom prst="rect">
            <a:avLst/>
          </a:prstGeom>
          <a:solidFill>
            <a:srgbClr val="FE73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876598-58D9-5A44-A7DE-609799AAD777}"/>
              </a:ext>
            </a:extLst>
          </p:cNvPr>
          <p:cNvSpPr txBox="1"/>
          <p:nvPr/>
        </p:nvSpPr>
        <p:spPr>
          <a:xfrm>
            <a:off x="8191500" y="37973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E733C"/>
                </a:solidFill>
              </a:rPr>
              <a:t>Legally Defensible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A6A725-A89C-5D46-A707-297B3572021A}"/>
              </a:ext>
            </a:extLst>
          </p:cNvPr>
          <p:cNvSpPr txBox="1"/>
          <p:nvPr/>
        </p:nvSpPr>
        <p:spPr>
          <a:xfrm>
            <a:off x="8191500" y="4152900"/>
            <a:ext cx="31750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</a:rPr>
              <a:t>EU AI Act compliance is not a ceiling — it is the foundation for trustworthy, scalable AI.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4D5A77D-4BE2-C547-8D3F-86B29F0A13B7}"/>
              </a:ext>
            </a:extLst>
          </p:cNvPr>
          <p:cNvSpPr/>
          <p:nvPr/>
        </p:nvSpPr>
        <p:spPr>
          <a:xfrm>
            <a:off x="635000" y="5435600"/>
            <a:ext cx="10922000" cy="660400"/>
          </a:xfrm>
          <a:prstGeom prst="roundRect">
            <a:avLst/>
          </a:prstGeom>
          <a:solidFill>
            <a:srgbClr val="0D1C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EA64E4-DFD4-194E-A4B7-B7C3A58C265B}"/>
              </a:ext>
            </a:extLst>
          </p:cNvPr>
          <p:cNvSpPr txBox="1"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Diotima: compliance-grade AI infrastructure that institutions can trust and regulators can verify.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F787F0-7D94-2445-A4BA-7CC4E5E05307}"/>
              </a:ext>
            </a:extLst>
          </p:cNvPr>
          <p:cNvSpPr txBox="1"/>
          <p:nvPr/>
        </p:nvSpPr>
        <p:spPr>
          <a:xfrm>
            <a:off x="635000" y="62865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AI that raises the floor of feedback quality while keeping humans firmly in control.</a:t>
            </a:r>
          </a:p>
        </p:txBody>
      </p:sp>
    </p:spTree>
    <p:extLst>
      <p:ext uri="{BB962C8B-B14F-4D97-AF65-F5344CB8AC3E}">
        <p14:creationId xmlns:p14="http://schemas.microsoft.com/office/powerpoint/2010/main" val="318261380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49B16C-9226-8C48-8A8D-5FA1DB70700E}">
  <we:reference id="f5f369e5-aa35-49d7-ad7b-638152ddb008" version="1.0.0.1" store="EXCatalog" storeType="EXCatalog"/>
  <we:alternateReferences>
    <we:reference id="WA200010001" version="1.0.0.1" store="en-GB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2655</TotalTime>
  <Words>1193</Words>
  <Application>Microsoft Macintosh PowerPoint</Application>
  <PresentationFormat>Widescreen</PresentationFormat>
  <Paragraphs>179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Grandview Display</vt:lpstr>
      <vt:lpstr>DashVTI</vt:lpstr>
      <vt:lpstr>PowerPoint Presentation</vt:lpstr>
      <vt:lpstr>The Compliance Gap in Education AI</vt:lpstr>
      <vt:lpstr>The Case for High-Risk Classification</vt:lpstr>
      <vt:lpstr>Diotima's Core Design Proposition</vt:lpstr>
      <vt:lpstr>The Formative Assessment Lifecycle</vt:lpstr>
      <vt:lpstr>Option C: Architecture Built for Compliance</vt:lpstr>
      <vt:lpstr>Human Oversight as a Structural Feature</vt:lpstr>
      <vt:lpstr>Explainability for Teachers and Learners</vt:lpstr>
      <vt:lpstr>Responsible Model Selection &amp; Evaluation</vt:lpstr>
      <vt:lpstr>Data Governance and Privacy</vt:lpstr>
      <vt:lpstr>Post-Market Monitoring &amp; Continuous Assurance</vt:lpstr>
      <vt:lpstr>Why Compliance is the Moat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Eoin Lane</dc:creator>
  <cp:lastModifiedBy>Eoin Lane</cp:lastModifiedBy>
  <cp:revision>2</cp:revision>
  <dcterms:created xsi:type="dcterms:W3CDTF">2026-03-14T00:39:44Z</dcterms:created>
  <dcterms:modified xsi:type="dcterms:W3CDTF">2026-03-15T20:55:20Z</dcterms:modified>
</cp:coreProperties>
</file>